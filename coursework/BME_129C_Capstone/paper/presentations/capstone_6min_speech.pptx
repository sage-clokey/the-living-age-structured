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Living things are not machines. That is the thesis. That is the finding. That is what seven layers of quantitative evidence confirm.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name is Sage Clokey, and my capstone asks a question that sounds simple but has enormous consequences for how we do molecular biology.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Modern synthetic biology operates on an implicit assumption: that the engineer can gather enough knowledge to design a living system from above. This is central planning applied to molecular biology.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insight that coordination can depend on knowledge that cannot be centralized was first articulated not by a biologist but by an economist.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built five biological networks from public databases and compared them against five synthetic architectures including a star graph. The result: there is no master node. 19-to-1 robustness ratio favoring distributed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analyzed 2,638 human immune cells across 8 cell types. Each cell type specializes. The communication network has a betweenness Gini of zero. Remove any single cell type and 75% of communication survives.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 stable conditions, the central planner achieves higher output. But when I removed an agent, the distributed system retained 71% of GDP while the centralized system retained only 53%.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gave the planner perfect information. iML1515 genome-scale model. It achieves 70% accuracy. The 30% failure is structural. And the irony: the LP must compute shadow prices to solve its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 transfer between species follows trade network rules. Costs scale with evolutionary distance. Forced codon optimization destroys information. Trade blocs emerge spontaneously from shared evolutionary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Textbooks call V(D)J recombination and somatic hypermutation random. They are not. AID targets hotspot motifs at 19-to-1 over coldspots. Public clonotypes appear at rates exceeding random expectation by 10-to-the-15th-fold.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CpG mutations occur at 15 to 40x baseline from 1% of sequence contexts. 20% of genes show tissue specificity above tau 0.95. 35 convergent evolution events reproduce the same amino acid substitutions in lineages separated by up to 1.5 billion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layers of evidence answer the same question from different angles. The convergence across seven independent lines of evidence is the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this mean for the practicing molecular biologist? Six design principles. Read the economy. Build feedback loops. Distribute control. Harmonize codons. Let it evolve. Design consortia.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cell is not a chassis waiting to be programmed. It is a running economy. The garden is still growing. The question is not how to program life. It is how to join it.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2B788"/>
                </a:solidFill>
              </a:defRPr>
            </a:pPr>
            <a:r>
              <a:t>The Living Architecture:</a:t>
            </a:r>
            <a:br/>
            <a:r>
              <a:t>Distributed Knowledge as the Design Language of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E9C46A"/>
                </a:solidFill>
              </a:defRPr>
            </a:pPr>
            <a:r>
              <a:t>Sage Clokey  •  BME 129C Capstone  •  Spring 2026</a:t>
            </a:r>
            <a:br/>
            <a:r>
              <a:t>Advisor: R. Dubois  •  UC Santa Cruz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Living things are not machines.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8B949E"/>
                </a:solidFill>
              </a:defRPr>
            </a:pPr>
            <a:r>
              <a:t>Does life operate like a centrally planned economy — or a free market?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52B788"/>
                </a:solidFill>
              </a:defRPr>
            </a:pPr>
            <a:r>
              <a:t>The Central Planner’s Promise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6EDF3"/>
                </a:solidFill>
              </a:defRPr>
            </a:pPr>
            <a:r>
              <a:t>•  Synthetic biology assumes the engineer can design from above</a:t>
            </a:r>
          </a:p>
          <a:p>
            <a:pPr>
              <a:spcAft>
                <a:spcPts val="1200"/>
              </a:spcAft>
              <a:defRPr sz="1800">
                <a:solidFill>
                  <a:srgbClr val="E6EDF3"/>
                </a:solidFill>
              </a:defRPr>
            </a:pPr>
            <a:r>
              <a:t>•  Pick the promoter. Optimize codons. Calculate ratios. Assemble parts.</a:t>
            </a:r>
          </a:p>
          <a:p>
            <a:pPr>
              <a:spcAft>
                <a:spcPts val="1200"/>
              </a:spcAft>
              <a:defRPr sz="1800">
                <a:solidFill>
                  <a:srgbClr val="E6EDF3"/>
                </a:solidFill>
              </a:defRPr>
            </a:pPr>
            <a:r>
              <a:t>•  Most designed genetic circuits fail on the first attempt (Kwok, 2010)</a:t>
            </a:r>
          </a:p>
          <a:p>
            <a:pPr>
              <a:spcAft>
                <a:spcPts val="1200"/>
              </a:spcAft>
              <a:defRPr sz="1800">
                <a:solidFill>
                  <a:srgbClr val="E6EDF3"/>
                </a:solidFill>
              </a:defRPr>
            </a:pPr>
            <a:r>
              <a:t>•  Complexity hits a wall beyond a handful of components (Purnick &amp; Weiss, 2009)</a:t>
            </a:r>
          </a:p>
          <a:p>
            <a:pPr>
              <a:spcAft>
                <a:spcPts val="1200"/>
              </a:spcAft>
              <a:defRPr sz="1800">
                <a:solidFill>
                  <a:srgbClr val="E6EDF3"/>
                </a:solidFill>
              </a:defRPr>
            </a:pPr>
            <a:r>
              <a:t>•  Standard explanation: biology is “complex” and models are “incomplete”</a:t>
            </a:r>
          </a:p>
          <a:p>
            <a:pPr>
              <a:spcAft>
                <a:spcPts val="1200"/>
              </a:spcAft>
              <a:defRPr sz="1800">
                <a:solidFill>
                  <a:srgbClr val="E6EDF3"/>
                </a:solidFill>
              </a:defRPr>
            </a:pPr>
            <a:r>
              <a:t>•  This paper argues: the problem is structural, not informational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52B788"/>
                </a:solidFill>
              </a:defRPr>
            </a:pPr>
            <a:r>
              <a:t>The Knowledge Problem — From Vienna to the Genome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6EDF3"/>
                </a:solidFill>
              </a:defRPr>
            </a:pPr>
            <a:r>
              <a:t>•  Hayek (1945): knowledge for coordination never exists in concentrated form</a:t>
            </a:r>
          </a:p>
          <a:p>
            <a:pPr>
              <a:spcAft>
                <a:spcPts val="1200"/>
              </a:spcAft>
              <a:defRPr sz="1800">
                <a:solidFill>
                  <a:srgbClr val="E6EDF3"/>
                </a:solidFill>
              </a:defRPr>
            </a:pPr>
            <a:r>
              <a:t>•  Mises (1920): rational calculation impossible without prices</a:t>
            </a:r>
          </a:p>
          <a:p>
            <a:pPr>
              <a:spcAft>
                <a:spcPts val="1200"/>
              </a:spcAft>
              <a:defRPr sz="1800">
                <a:solidFill>
                  <a:srgbClr val="E6EDF3"/>
                </a:solidFill>
              </a:defRPr>
            </a:pPr>
            <a:r>
              <a:t>•  Menger (1871): complex institutions arise spontaneously from individual action</a:t>
            </a:r>
          </a:p>
          <a:p>
            <a:pPr>
              <a:spcAft>
                <a:spcPts val="1200"/>
              </a:spcAft>
              <a:defRPr sz="1800">
                <a:solidFill>
                  <a:srgbClr val="E6EDF3"/>
                </a:solidFill>
              </a:defRPr>
            </a:pPr>
            <a:r>
              <a:t>•  Rothbard (1962): every act of central planning destroys information</a:t>
            </a:r>
          </a:p>
          <a:p>
            <a:pPr>
              <a:spcAft>
                <a:spcPts val="1200"/>
              </a:spcAft>
              <a:defRPr sz="1800">
                <a:solidFill>
                  <a:srgbClr val="E6EDF3"/>
                </a:solidFill>
              </a:defRPr>
            </a:pPr>
            <a:r>
              <a:t>•  Kirzner (1973): agents discover information through competitive process</a:t>
            </a:r>
          </a:p>
          <a:p>
            <a:pPr>
              <a:spcAft>
                <a:spcPts val="1200"/>
              </a:spcAft>
              <a:defRPr sz="1800">
                <a:solidFill>
                  <a:srgbClr val="E6EDF3"/>
                </a:solidFill>
              </a:defRPr>
            </a:pPr>
            <a:r>
              <a:t>•  Every principle they discovered about human cooperation, life discovered first — and wrote it in DNA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2B788"/>
                </a:solidFill>
              </a:defRPr>
            </a:pPr>
            <a:r>
              <a:t>Layer 1: No Master Node — Network Topology</a:t>
            </a:r>
          </a:p>
        </p:txBody>
      </p:sp>
      <p:pic>
        <p:nvPicPr>
          <p:cNvPr id="3" name="Picture 2" descr="layer1_topology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713232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914400"/>
            <a:ext cx="4297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5 biological networks vs 5 synthetic architectures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Heavy-tailed degree distributions (α = 2.0–2.5)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Hubs exist but no hub dominates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PPI: 36.8% removal to fragment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Star graph: 1.9% removal to collapse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19:1 robustness ratio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Feed-forward loops over-represented (Z &gt; 10)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Networks self-regulate against centralization (WBPA)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2B788"/>
                </a:solidFill>
              </a:defRPr>
            </a:pPr>
            <a:r>
              <a:t>Layer 1b: No Master Cell — The Single-Cell Economy</a:t>
            </a:r>
          </a:p>
        </p:txBody>
      </p:sp>
      <p:pic>
        <p:nvPicPr>
          <p:cNvPr id="3" name="Picture 2" descr="layer1b_single_cell_economy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713232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914400"/>
            <a:ext cx="4297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2,638 human PBMCs, 8 cell types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Shannon entropy 0.852–0.915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Division of labor without hierarchy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Communication betweenness Gini = 0.000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Perfectly distributed — no gatekeeper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75% of communication survives any single removal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Menger’s spontaneous order made visible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2B788"/>
                </a:solidFill>
              </a:defRPr>
            </a:pPr>
            <a:r>
              <a:t>Layer 2: Distributed Outperforms Centralized Under Perturbation</a:t>
            </a:r>
          </a:p>
        </p:txBody>
      </p:sp>
      <p:pic>
        <p:nvPicPr>
          <p:cNvPr id="3" name="Picture 2" descr="layer2_economy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713232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914400"/>
            <a:ext cx="4297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13 metabolic pathway agents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Stable conditions: planner wins (1.68x GDP)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Under perturbation: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  Distributed retains 71.1% GDP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  Centralized retains 53.0% GDP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18.1 percentage point advantage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Planner’s fixed allocation has no self-correction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Agents discover equilibrium via price feedback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2B788"/>
                </a:solidFill>
              </a:defRPr>
            </a:pPr>
            <a:r>
              <a:t>Layer 2b: The Omniscient Planner Achieves 70%</a:t>
            </a:r>
          </a:p>
        </p:txBody>
      </p:sp>
      <p:pic>
        <p:nvPicPr>
          <p:cNvPr id="3" name="Picture 2" descr="layer2_fba_analysis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713232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914400"/>
            <a:ext cx="4297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iML1515: 2,712 reactions, 1,877 metabolites, 1,516 genes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The strongest possible central planner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70% accuracy on gene knockouts vs Keio collection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30% failure is structural, not noise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Allosteric feedback, folding, timing, chaperones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Knowledge exists only in local molecular state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The LP must compute shadow prices (= Hayekian prices)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The planner computes what the market produces for free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2B788"/>
                </a:solidFill>
              </a:defRPr>
            </a:pPr>
            <a:r>
              <a:t>Layer 3: Cross-Species Gene Transfer Follows Trade Rules</a:t>
            </a:r>
          </a:p>
        </p:txBody>
      </p:sp>
      <p:pic>
        <p:nvPicPr>
          <p:cNvPr id="3" name="Picture 2" descr="layer3_trade_network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713232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914400"/>
            <a:ext cx="4297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8 organisms across 4 kingdoms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Trade cost scales with evolutionary distance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Within-kingdom: 0.17–0.38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Cross-kingdom: 0.65–0.83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Forced codon optimization destroys information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Codon harmonization preserves local knowledge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Trade blocs emerge spontaneously (Louvain)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Ricardian comparative advantage in codons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2B788"/>
                </a:solidFill>
              </a:defRPr>
            </a:pPr>
            <a:r>
              <a:t>Layer 4: The Immune System — Directed, Not Random</a:t>
            </a:r>
          </a:p>
        </p:txBody>
      </p:sp>
      <p:pic>
        <p:nvPicPr>
          <p:cNvPr id="3" name="Picture 2" descr="immune_distributed_summary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713232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914400"/>
            <a:ext cx="4297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SHM: AID targets WRC/GYW hotspots at 19:1 over coldspots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V(D)J: IGHV3-23 used at 10–20x rare segments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Same bias in unrelated individuals (Spearman ρ ≈ 1.0)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IGHJ4 + IGHJ6 = 65% of usage (random: 17%)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Public clonotypes: identical TCR CDR3 in unrelated people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Random probability: ~10⁻¹⁵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Observed: 200 shared across 10 individuals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Convergent distributed discovery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2B788"/>
                </a:solidFill>
              </a:defRPr>
            </a:pPr>
            <a:r>
              <a:t>Layer 5: The Whole Genome — Scale-Invariant Distributed Knowledge</a:t>
            </a:r>
          </a:p>
        </p:txBody>
      </p:sp>
      <p:pic>
        <p:nvPicPr>
          <p:cNvPr id="3" name="Picture 2" descr="genome_distributed_summary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713232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914400"/>
            <a:ext cx="4297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CpG C&gt;T: 15–40x baseline from ~1% of contexts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Ti/Tv ratio 2:1 (random: 0.5:1)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Mutation machinery is a biased editor, not a random generator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20% of genes: tissue specificity τ &gt; 0.95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100–1,000x fold enrichment in primary tissue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35 convergent evolution events across 17 traits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Same amino acid substitutions across 1.5 billion years</a:t>
            </a:r>
          </a:p>
          <a:p>
            <a:pPr>
              <a:spcAft>
                <a:spcPts val="800"/>
              </a:spcAft>
              <a:defRPr sz="1300">
                <a:solidFill>
                  <a:srgbClr val="E6EDF3"/>
                </a:solidFill>
              </a:defRPr>
            </a:pPr>
            <a:r>
              <a:t>•  The solution landscape is structured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2B788"/>
                </a:solidFill>
              </a:defRPr>
            </a:pPr>
            <a:r>
              <a:t>Seven Layers — Same Answer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82296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629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9C46A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9C46A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9C46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9C46A"/>
                          </a:solidFill>
                        </a:defRPr>
                      </a:pPr>
                      <a:r>
                        <a:t>Principle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</a:defRPr>
                      </a:pPr>
                      <a:r>
                        <a:t>1: Topology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</a:defRPr>
                      </a:pPr>
                      <a:r>
                        <a:t>Is there a master node?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</a:defRPr>
                      </a:pPr>
                      <a:r>
                        <a:t>No. 19:1 robustness advantage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</a:defRPr>
                      </a:pPr>
                      <a:r>
                        <a:t>Hayek: knowledge is dispersed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</a:defRPr>
                      </a:pPr>
                      <a:r>
                        <a:t>1b: Single-cell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</a:defRPr>
                      </a:pPr>
                      <a:r>
                        <a:t>Is there a master cell?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</a:defRPr>
                      </a:pPr>
                      <a:r>
                        <a:t>No. Gini = 0.0, 75% survival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</a:defRPr>
                      </a:pPr>
                      <a:r>
                        <a:t>Menger: spontaneous order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</a:defRPr>
                      </a:pPr>
                      <a:r>
                        <a:t>2: Economy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</a:defRPr>
                      </a:pPr>
                      <a:r>
                        <a:t>Distributed &gt; centralized?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</a:defRPr>
                      </a:pPr>
                      <a:r>
                        <a:t>Yes. 71% vs 53% GDP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</a:defRPr>
                      </a:pPr>
                      <a:r>
                        <a:t>Mises: calculation problem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</a:defRPr>
                      </a:pPr>
                      <a:r>
                        <a:t>2b: FBA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</a:defRPr>
                      </a:pPr>
                      <a:r>
                        <a:t>Perfect knowledge solves it?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</a:defRPr>
                      </a:pPr>
                      <a:r>
                        <a:t>No. 70% accuracy, 30% structural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</a:defRPr>
                      </a:pPr>
                      <a:r>
                        <a:t>Hayek: structural limit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</a:defRPr>
                      </a:pPr>
                      <a:r>
                        <a:t>3: Trade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</a:defRPr>
                      </a:pPr>
                      <a:r>
                        <a:t>Forced exchange works?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</a:defRPr>
                      </a:pPr>
                      <a:r>
                        <a:t>No. Destroys information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</a:defRPr>
                      </a:pPr>
                      <a:r>
                        <a:t>Rothbard: coercion destroys value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</a:defRPr>
                      </a:pPr>
                      <a:r>
                        <a:t>4: Immune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</a:defRPr>
                      </a:pPr>
                      <a:r>
                        <a:t>Immune generation random?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</a:defRPr>
                      </a:pPr>
                      <a:r>
                        <a:t>No. 19:1 hotspots, ρ ≈ 1.0, public clonotypes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</a:defRPr>
                      </a:pPr>
                      <a:r>
                        <a:t>Distributed knowledge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</a:defRPr>
                      </a:pPr>
                      <a:r>
                        <a:t>5: Genome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</a:defRPr>
                      </a:pPr>
                      <a:r>
                        <a:t>Mutation random?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</a:defRPr>
                      </a:pPr>
                      <a:r>
                        <a:t>No. CpG hotspots, convergent evolution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</a:defRPr>
                      </a:pPr>
                      <a:r>
                        <a:t>Knowledge in the machinery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52B788"/>
                </a:solidFill>
              </a:defRPr>
            </a:pPr>
            <a:r>
              <a:t>Six Design Principles for the Molecular Biologist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6EDF3"/>
                </a:solidFill>
              </a:defRPr>
            </a:pPr>
            <a:r>
              <a:t>•  1. Read the economy before entering it — use FBA shadow prices</a:t>
            </a:r>
          </a:p>
          <a:p>
            <a:pPr>
              <a:spcAft>
                <a:spcPts val="1200"/>
              </a:spcAft>
              <a:defRPr sz="1800">
                <a:solidFill>
                  <a:srgbClr val="E6EDF3"/>
                </a:solidFill>
              </a:defRPr>
            </a:pPr>
            <a:r>
              <a:t>•  2. Build feedback loops, not fixed rates — 71% vs 53% GDP retention</a:t>
            </a:r>
          </a:p>
          <a:p>
            <a:pPr>
              <a:spcAft>
                <a:spcPts val="1200"/>
              </a:spcAft>
              <a:defRPr sz="1800">
                <a:solidFill>
                  <a:srgbClr val="E6EDF3"/>
                </a:solidFill>
              </a:defRPr>
            </a:pPr>
            <a:r>
              <a:t>•  3. Distribute control across the pathway — 19:1 robustness ratio</a:t>
            </a:r>
          </a:p>
          <a:p>
            <a:pPr>
              <a:spcAft>
                <a:spcPts val="1200"/>
              </a:spcAft>
              <a:defRPr sz="1800">
                <a:solidFill>
                  <a:srgbClr val="E6EDF3"/>
                </a:solidFill>
              </a:defRPr>
            </a:pPr>
            <a:r>
              <a:t>•  4. Harmonize codons, don’t optimize them — preserve local knowledge</a:t>
            </a:r>
          </a:p>
          <a:p>
            <a:pPr>
              <a:spcAft>
                <a:spcPts val="1200"/>
              </a:spcAft>
              <a:defRPr sz="1800">
                <a:solidFill>
                  <a:srgbClr val="E6EDF3"/>
                </a:solidFill>
              </a:defRPr>
            </a:pPr>
            <a:r>
              <a:t>•  5. Let the system evolve — Kirznerian discovery at the molecular level</a:t>
            </a:r>
          </a:p>
          <a:p>
            <a:pPr>
              <a:spcAft>
                <a:spcPts val="1200"/>
              </a:spcAft>
              <a:defRPr sz="1800">
                <a:solidFill>
                  <a:srgbClr val="E6EDF3"/>
                </a:solidFill>
              </a:defRPr>
            </a:pPr>
            <a:r>
              <a:t>•  6. Design consortia, not monoliths — Gini = 0.0, 75% fault tolerance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The garden is still growing.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8B949E"/>
                </a:solidFill>
              </a:defRPr>
            </a:pPr>
            <a:r>
              <a:t>The question is not how to program life.</a:t>
            </a:r>
            <a:br/>
            <a:r>
              <a:t>It is how to join it.</a:t>
            </a:r>
            <a:br/>
            <a:br/>
            <a:r>
              <a:t>Cultivate conditions, don’t command outcomes.</a:t>
            </a:r>
            <a:br/>
            <a:r>
              <a:t>Read the price system, don’t override it.</a:t>
            </a:r>
            <a:br/>
            <a:r>
              <a:t>Be a node, not a planner.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2B788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E9C46A"/>
                </a:solidFill>
              </a:defRPr>
            </a:pPr>
            <a:r>
              <a:t>Sage Clokey  •  sage-clokey.github.io</a:t>
            </a:r>
            <a:br/>
            <a:r>
              <a:t>Code: github.com/Sage-Clokey/Living-works-by-the-word</a:t>
            </a:r>
            <a:br/>
            <a:r>
              <a:t>Advisor: R. Dubois  •  UC Santa Cruz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