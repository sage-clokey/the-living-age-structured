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4AA"/>
                </a:solidFill>
                <a:latin typeface="Calibri"/>
              </a:defRPr>
            </a:pPr>
            <a:r>
              <a:t>Distributed Knowledge as the</a:t>
            </a:r>
            <a:br/>
            <a:r>
              <a:t>Architecture of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ABBCC"/>
                </a:solidFill>
                <a:latin typeface="Calibri"/>
              </a:defRPr>
            </a:pPr>
            <a:r>
              <a:t>Why Living Systems Cannot Be Centrally Planned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Calibri"/>
              </a:defRPr>
            </a:pPr>
            <a:r>
              <a:t>Sage Clokey  |  BME 129C Capstone  |  UC Santa Cruz  | 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0E0"/>
                </a:solidFill>
                <a:latin typeface="Calibri"/>
              </a:defRPr>
            </a:pPr>
            <a:r>
              <a:t>Living systems coordinate billions of nodes without a central planner.</a:t>
            </a:r>
            <a:br/>
            <a:r>
              <a:t>Seven layers of evidence show this is not a bug — it is the design.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AA"/>
                </a:solidFill>
                <a:latin typeface="Calibri"/>
              </a:defRPr>
            </a:pPr>
            <a:r>
              <a:t>Is There a Master Node? No. — 19:1 Robustness Advantage</a:t>
            </a:r>
          </a:p>
        </p:txBody>
      </p:sp>
      <p:pic>
        <p:nvPicPr>
          <p:cNvPr id="3" name="Picture 2" descr="layer1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6217920" cy="27195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75120" y="822960"/>
            <a:ext cx="52120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 Biological networks: heavy-tailed, no single node dominates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 Star graph collapses at 1.9% node removal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 PPI networks survive removing 37% of top nodes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 19:1 robustness ratio — the structural cost of centralization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 Distribute knowledge across many nodes → survive loss of any one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 Concentrate knowledge in one node → die when it fails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AA"/>
                </a:solidFill>
                <a:latin typeface="Calibri"/>
              </a:defRPr>
            </a:pPr>
            <a:r>
              <a:t>The Planner Wins in Theory — The Market Wins Under Stress</a:t>
            </a:r>
          </a:p>
        </p:txBody>
      </p:sp>
      <p:pic>
        <p:nvPicPr>
          <p:cNvPr id="3" name="Picture 2" descr="layer2_ec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669280" cy="2149466"/>
          </a:xfrm>
          <a:prstGeom prst="rect">
            <a:avLst/>
          </a:prstGeom>
        </p:spPr>
      </p:pic>
      <p:pic>
        <p:nvPicPr>
          <p:cNvPr id="4" name="Picture 3" descr="layer2_fba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66160"/>
            <a:ext cx="5669280" cy="22242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822960"/>
            <a:ext cx="56692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 Centralized achieves 1.68x GDP under stable conditions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 Under perturbation: distributed retains 71%, centralized 53%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 Even with PERFECT knowledge (FBA): only 70% accuracy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 30% failure is structural — regulatory knowledge can't be centralized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 The omniscient planner must compute prices to optimize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 Prices emerge free from distributed exchange — Hayek was right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AA"/>
                </a:solidFill>
                <a:latin typeface="Calibri"/>
              </a:defRPr>
            </a:pPr>
            <a:r>
              <a:t>The Immune System: Directed Knowledge, Not Random Generation</a:t>
            </a:r>
          </a:p>
        </p:txBody>
      </p:sp>
      <p:pic>
        <p:nvPicPr>
          <p:cNvPr id="3" name="Picture 2" descr="immune_shm_hotsp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669280" cy="1668192"/>
          </a:xfrm>
          <a:prstGeom prst="rect">
            <a:avLst/>
          </a:prstGeom>
        </p:spPr>
      </p:pic>
      <p:pic>
        <p:nvPicPr>
          <p:cNvPr id="4" name="Picture 3" descr="immune_vdj_b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66160"/>
            <a:ext cx="5669280" cy="16670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822960"/>
            <a:ext cx="56692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 SHM targets hotspot motifs at 19:1 over coldspots — AID knows where to write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 V(D)J: IGHV3-23 used 10-20x rare segments — not uniform, not random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 Same bias in unrelated individuals — Spearman rho ≈ 1.0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 Knowledge embedded in chromatin, RSS strength, locus architecture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 Every data point shown — no bins, no averages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 The mutation machinery reads the landscape before it acts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AA"/>
                </a:solidFill>
                <a:latin typeface="Calibri"/>
              </a:defRPr>
            </a:pPr>
            <a:r>
              <a:t>Convergent Discovery: Independent Systems Find the Same Answers</a:t>
            </a:r>
          </a:p>
        </p:txBody>
      </p:sp>
      <p:pic>
        <p:nvPicPr>
          <p:cNvPr id="3" name="Picture 2" descr="immune_public_clono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669280" cy="1667687"/>
          </a:xfrm>
          <a:prstGeom prst="rect">
            <a:avLst/>
          </a:prstGeom>
        </p:spPr>
      </p:pic>
      <p:pic>
        <p:nvPicPr>
          <p:cNvPr id="4" name="Picture 3" descr="genome_convergent_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66160"/>
            <a:ext cx="5669280" cy="16691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822960"/>
            <a:ext cx="56692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 Public clonotypes: same TCR sequences in unrelated people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 Random probability: 10^-15. Observed: hundreds shared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 Convergent evolution: same amino acid substitutions across kingdoms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 Bats + dolphins: 14 identical Prestin substitutions (95 Mya apart)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 35 events, 17 traits, 8,000 yrs to 1.5 billion yrs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 Independent systems converge → solution landscape is structured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AA"/>
                </a:solidFill>
                <a:latin typeface="Calibri"/>
              </a:defRPr>
            </a:pPr>
            <a:r>
              <a:t>Genome-Wide: Same Three Patterns at Every Scale</a:t>
            </a:r>
          </a:p>
        </p:txBody>
      </p:sp>
      <p:pic>
        <p:nvPicPr>
          <p:cNvPr id="3" name="Picture 2" descr="genome_mutation_hotsp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669280" cy="1672480"/>
          </a:xfrm>
          <a:prstGeom prst="rect">
            <a:avLst/>
          </a:prstGeom>
        </p:spPr>
      </p:pic>
      <p:pic>
        <p:nvPicPr>
          <p:cNvPr id="4" name="Picture 3" descr="genome_tissue_special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66160"/>
            <a:ext cx="5669280" cy="16623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822960"/>
            <a:ext cx="56692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 CpG C&gt;T mutations: 15-40x baseline from ~1% of contexts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 Ti/Tv ratio 2:1 — 4x random expectation — conservative bias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 20% of genes: tau &gt; 0.95 — expressed almost exclusively in one tissue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 Fold enrichment 100-1,000x — division of labor at the molecular level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 Directed mutation + specialized expression + convergent discovery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 Immune scale and genome scale: same architecture, same conclusion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AA"/>
                </a:solidFill>
                <a:latin typeface="Calibri"/>
              </a:defRPr>
            </a:pPr>
            <a:r>
              <a:t>Seven Layers, One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AA00"/>
                </a:solidFill>
                <a:latin typeface="Calibri"/>
              </a:defRPr>
            </a:pPr>
            <a:r>
              <a:t>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8288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No master node — 19:1 robustness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AA00"/>
                </a:solidFill>
                <a:latin typeface="Calibri"/>
              </a:defRPr>
            </a:pPr>
            <a:r>
              <a:t>Single-Cell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3774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No master cell — Gini = 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AA00"/>
                </a:solidFill>
                <a:latin typeface="Calibri"/>
              </a:defRPr>
            </a:pPr>
            <a:r>
              <a:t>Economy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9260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Distributed 71% vs centralized 53%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74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AA00"/>
                </a:solidFill>
                <a:latin typeface="Calibri"/>
              </a:defRPr>
            </a:pPr>
            <a:r>
              <a:t>FBA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4747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Omniscient planner: 70% — 30% structural failure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023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AA00"/>
                </a:solidFill>
                <a:latin typeface="Calibri"/>
              </a:defRPr>
            </a:pPr>
            <a:r>
              <a:t>Trade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0233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Forced exchange destroys information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572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AA00"/>
                </a:solidFill>
                <a:latin typeface="Calibri"/>
              </a:defRPr>
            </a:pPr>
            <a:r>
              <a:t>Immune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5720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Directed mutation, biased recombination, convergent clonotypes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120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AA00"/>
                </a:solidFill>
                <a:latin typeface="Calibri"/>
              </a:defRPr>
            </a:pPr>
            <a:r>
              <a:t>Genome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51206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CpG hotspots, tissue specialization, convergent evolution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760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BBCC"/>
                </a:solidFill>
                <a:latin typeface="Calibri"/>
              </a:defRPr>
            </a:pPr>
            <a:r>
              <a:t>The knowledge is distributed because the system was designed to distribute it.</a:t>
            </a:r>
            <a:br/>
            <a:r>
              <a:t>The first job was gardener, not 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