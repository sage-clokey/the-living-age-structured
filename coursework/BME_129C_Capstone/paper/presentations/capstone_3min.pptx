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15 seconds.</a:t>
            </a:r>
          </a:p>
          <a:p/>
          <a:p>
            <a:r>
              <a:t>Living systems coordinate billions of nodes without a central planner. No master gene runs your body. No forester runs a forest. This capstone asks: are living systems literally decentralized economies? Not as metaphor — as measurable, quantifiable, structurally equivalent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1 — 30 seconds.</a:t>
            </a:r>
          </a:p>
          <a:p/>
          <a:p>
            <a:r>
              <a:t>The E. coli gene regulatory network has no central controller. Under targeted removal of top nodes, biological networks survive 37% loss. The star graph collapses at 2%. That's a 19:1 ratio. The distributed network routes around damage. The centralized network has a single point of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2 — 30 seconds.</a:t>
            </a:r>
          </a:p>
          <a:p/>
          <a:p>
            <a:r>
              <a:t>Thirteen metabolic pathway agents reach equilibrium through local feedback alone. Under perturbation, distributed allocation retains 71% of GDP. Centralized retains 53%. The planner's fixed plan is wrong after the shock, and it has no mechanism to discover the new optimum. Even FBA with perfect stoichiometric knowledge fails on 30% of real gene knockouts.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Price System — 30 seconds.</a:t>
            </a:r>
          </a:p>
          <a:p/>
          <a:p>
            <a:r>
              <a:t>Living systems have a real price system at three tiers. Intracellular metabolite ratios are cost of capital. Intercellular signals are market prices. mTOR integrates all of these and makes the grow-or-conserve decision — the entrepreneur reading the market. Shadow prices from FBA prove Menger's subjective value: the same molecule has different value depending on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Cancer — 30 seconds.</a:t>
            </a:r>
          </a:p>
          <a:p/>
          <a:p>
            <a:r>
              <a:t>Using TCGA data — 10,967 samples, 32 cancer types — the most mutated genes all map to price system components. TP53 is the damage price. PIK3CA and PTEN are price integrators. EGFR is a price reader. The tissue-specific variation is the finding: TP53 is 96% in ovarian but 1% in thyroid. Different tissues break different price components. Cancer is not a gene disease. It's a price system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 + Cells — 30 seconds.</a:t>
            </a:r>
          </a:p>
          <a:p/>
          <a:p>
            <a:r>
              <a:t>Each organism specializes in capabilities others lack. Trade cost correlates with evolutionary distance. Forced exchange destroys information. Trade blocs emerge spontaneously. At the cellular level, same genome produces 8 cell types. Communication Gini is 0.0 — perfectly distributed, no gatekeeper. Same ligand received differently by different cells — subjective value at the molecular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 — 15 seconds.</a:t>
            </a:r>
          </a:p>
          <a:p/>
          <a:p>
            <a:r>
              <a:t>Every layer answers the same question: does biology operate like a centrally planned economy or a free market? The answer is market. At every scale. Life is the original decentralized network. The question is not how to program life. It is how to join the computation.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2B788"/>
                </a:solidFill>
                <a:latin typeface="Calibri"/>
              </a:defRPr>
            </a:pPr>
            <a:r>
              <a:t>Living Systems as</a:t>
            </a:r>
            <a:br/>
            <a:r>
              <a:t>Decentralized Economies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9C46A"/>
                </a:solidFill>
                <a:latin typeface="Calibri"/>
              </a:defRPr>
            </a:pPr>
            <a:r>
              <a:t>The Price System of the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Sage Clokey  |  BME 129C Capstone  |  UC Santa Cruz  |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5F5F5"/>
                </a:solidFill>
                <a:latin typeface="Calibri"/>
              </a:defRPr>
            </a:pPr>
            <a:r>
              <a:t>Living things are not machines. The differences are a feature, not a bug.</a:t>
            </a:r>
            <a:br/>
            <a:r>
              <a:t>The distributed knowledge is coordinated by prices —</a:t>
            </a:r>
            <a:br/>
            <a:r>
              <a:t>the ratio between the voluntary exchange of anything between nodes.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Calibri"/>
              </a:defRPr>
            </a:pPr>
            <a:r>
              <a:t>No Master Node — 19:1 Robustness Advantage</a:t>
            </a:r>
          </a:p>
        </p:txBody>
      </p:sp>
      <p:pic>
        <p:nvPicPr>
          <p:cNvPr id="4" name="Picture 3" descr="L1_degre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2560320"/>
          </a:xfrm>
          <a:prstGeom prst="rect">
            <a:avLst/>
          </a:prstGeom>
        </p:spPr>
      </p:pic>
      <p:pic>
        <p:nvPicPr>
          <p:cNvPr id="5" name="Picture 4" descr="L1_robustnes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54864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E. coli GRN: power-law degree distribution (α 2.0–2.5)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Hubs exist (CRP → 43 genes) but no hub dominates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Targeted removal: biological networks survive 37% node loss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Star graph (central planning) collapses at 1.9%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19:1 robustness ratio — the structural cost of centralization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Hub erosion: network actively resists centralization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Feed-forward loops over-represented — evolved price signals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Calibri"/>
              </a:defRPr>
            </a:pPr>
            <a:r>
              <a:t>The Market Wins Under Stress — 71% vs 53%</a:t>
            </a:r>
          </a:p>
        </p:txBody>
      </p:sp>
      <p:pic>
        <p:nvPicPr>
          <p:cNvPr id="4" name="Picture 3" descr="L2_gdp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2560320"/>
          </a:xfrm>
          <a:prstGeom prst="rect">
            <a:avLst/>
          </a:prstGeom>
        </p:spPr>
      </p:pic>
      <p:pic>
        <p:nvPicPr>
          <p:cNvPr id="5" name="Picture 4" descr="L2_perturbation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54864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13 metabolic agents share a pool — no central allocator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Rates oscillate early (price discovery) then converge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Under perturbation: distributed retains 71% GDP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Centralized retains 53% — 18-point market advantage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The planner’s fixed plan is wrong after the shock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Distributed agents self-correct through local price signals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FBA (omniscient planner): 70% accuracy — 30% structural failure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Calibri"/>
              </a:defRPr>
            </a:pPr>
            <a:r>
              <a:t>The Price System of the Cell</a:t>
            </a:r>
          </a:p>
        </p:txBody>
      </p:sp>
      <p:pic>
        <p:nvPicPr>
          <p:cNvPr id="4" name="Picture 3" descr="panel_a_price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2560320"/>
          </a:xfrm>
          <a:prstGeom prst="rect">
            <a:avLst/>
          </a:prstGeom>
        </p:spPr>
      </p:pic>
      <p:pic>
        <p:nvPicPr>
          <p:cNvPr id="5" name="Picture 4" descr="panel_b_shadow_p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566928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Three tiers of molecular prices: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Intracellular ratios (ATP/ADP, NAD+/NADH) = cost of capital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Intercellular signals (cytokines, O₂ tension) = market prices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mTOR integrates all prices → grow-or-conserve = the entrepreneur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Shadow prices shift with context (FBA, iML1515):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NADH: cheap on glucose, expensive on acetate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Oxygen: free aerobically, most valuable anaerobically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Same molecule, different value = Menger’s subjective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3946"/>
                </a:solidFill>
                <a:latin typeface="Calibri"/>
              </a:defRPr>
            </a:pPr>
            <a:r>
              <a:t>Cancer Breaks the Price System</a:t>
            </a:r>
          </a:p>
        </p:txBody>
      </p:sp>
      <p:pic>
        <p:nvPicPr>
          <p:cNvPr id="4" name="Picture 3" descr="panel_d_cancer_price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6692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TCGA PanCancerAtlas: 10,967 samples, 32 cancer types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Most mutated genes map to price system components: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TP53 — damage price (apoptosis signal)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PIK3CA, PTEN, mTOR — price integrators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EGFR, ERBB2 — growth factor receptors (price readers)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The variation IS the finding: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TP53: 96% ovarian, 1% thyroid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  PIK3CA: 52% uterine, 3% ovarian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Different tissues break different price components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</a:t>
            </a:r>
          </a:p>
          <a:p>
            <a:pPr>
              <a:spcAft>
                <a:spcPts val="8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•  The disease is not the variant — it’s the broken price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2B788"/>
                </a:solidFill>
                <a:latin typeface="Calibri"/>
              </a:defRPr>
            </a:pPr>
            <a:r>
              <a:t>Cancer is the calculation problem at the cellular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C46A"/>
                </a:solidFill>
                <a:latin typeface="Calibri"/>
              </a:defRPr>
            </a:pPr>
            <a:r>
              <a:t>Comparative Advantage Across the Tree of Life</a:t>
            </a:r>
          </a:p>
        </p:txBody>
      </p:sp>
      <p:pic>
        <p:nvPicPr>
          <p:cNvPr id="4" name="Picture 3" descr="L3_trade_network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486400" cy="2560320"/>
          </a:xfrm>
          <a:prstGeom prst="rect">
            <a:avLst/>
          </a:prstGeom>
        </p:spPr>
      </p:pic>
      <p:pic>
        <p:nvPicPr>
          <p:cNvPr id="5" name="Picture 4" descr="L3_trade_cost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548640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91440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Each organism specializes: coral → biomineralization, spider → silk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Trade cost scales with evolutionary distance: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  Within-kingdom: 0.17–0.38 | Cross-kingdom: 0.65–0.83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Forced exchange (full codon optimization) destroys local knowledge</a:t>
            </a:r>
          </a:p>
          <a:p>
            <a:pPr>
              <a:spcAft>
                <a:spcPts val="80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•  Trade blocs emerge spontaneously — no designer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840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5D5B2"/>
                </a:solidFill>
                <a:latin typeface="Calibri"/>
              </a:defRPr>
            </a:pPr>
            <a:r>
              <a:t>Cells as Economic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29768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5D5B2"/>
                </a:solidFill>
                <a:latin typeface="Calibri"/>
              </a:defRPr>
            </a:pPr>
            <a:r>
              <a:t>•  Same genome, 8 cell types — specialization by choice, not command</a:t>
            </a:r>
          </a:p>
          <a:p>
            <a:pPr>
              <a:spcAft>
                <a:spcPts val="800"/>
              </a:spcAft>
              <a:defRPr sz="1400">
                <a:solidFill>
                  <a:srgbClr val="95D5B2"/>
                </a:solidFill>
                <a:latin typeface="Calibri"/>
              </a:defRPr>
            </a:pPr>
            <a:r>
              <a:t>•  Communication Gini = 0.0 — no gatekeeper, perfectly distributed</a:t>
            </a:r>
          </a:p>
          <a:p>
            <a:pPr>
              <a:spcAft>
                <a:spcPts val="800"/>
              </a:spcAft>
              <a:defRPr sz="1400">
                <a:solidFill>
                  <a:srgbClr val="95D5B2"/>
                </a:solidFill>
                <a:latin typeface="Calibri"/>
              </a:defRPr>
            </a:pPr>
            <a:r>
              <a:t>•  Remove any cell type → 70–90% of communication intact</a:t>
            </a:r>
          </a:p>
          <a:p>
            <a:pPr>
              <a:spcAft>
                <a:spcPts val="800"/>
              </a:spcAft>
              <a:defRPr sz="1400">
                <a:solidFill>
                  <a:srgbClr val="95D5B2"/>
                </a:solidFill>
                <a:latin typeface="Calibri"/>
              </a:defRPr>
            </a:pPr>
            <a:r>
              <a:t>•  Same ligand, different meaning — subjective value at the molecular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2B788"/>
                </a:solidFill>
                <a:latin typeface="Calibri"/>
              </a:defRPr>
            </a:pPr>
            <a:r>
              <a:t>Every Layer, One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9C46A"/>
                </a:solidFill>
                <a:latin typeface="Calibri"/>
              </a:defRPr>
            </a:pPr>
            <a:r>
              <a:t>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Calibri"/>
              </a:defRPr>
            </a:pPr>
            <a:r>
              <a:t>No master node — 19:1 robustness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9C46A"/>
                </a:solidFill>
                <a:latin typeface="Calibri"/>
              </a:defRPr>
            </a:pPr>
            <a:r>
              <a:t>Single-Cell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65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Calibri"/>
              </a:defRPr>
            </a:pPr>
            <a:r>
              <a:t>No master cell — Gini = 0.0, subjective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9C46A"/>
                </a:solidFill>
                <a:latin typeface="Calibri"/>
              </a:defRPr>
            </a:pPr>
            <a:r>
              <a:t>Economy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688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Calibri"/>
              </a:defRPr>
            </a:pPr>
            <a:r>
              <a:t>Distributed 71% vs centralized 53% under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9C46A"/>
                </a:solidFill>
                <a:latin typeface="Calibri"/>
              </a:defRPr>
            </a:pPr>
            <a:r>
              <a:t>FBA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71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Calibri"/>
              </a:defRPr>
            </a:pPr>
            <a:r>
              <a:t>Omniscient planner: 70% — 30% structural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74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9C46A"/>
                </a:solidFill>
                <a:latin typeface="Calibri"/>
              </a:defRPr>
            </a:pPr>
            <a:r>
              <a:t>Price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Calibri"/>
              </a:defRPr>
            </a:pPr>
            <a:r>
              <a:t>Three-tier prices — mTOR is the entrepreneur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9C46A"/>
                </a:solidFill>
                <a:latin typeface="Calibri"/>
              </a:defRPr>
            </a:pPr>
            <a:r>
              <a:t>Cancer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977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Calibri"/>
              </a:defRPr>
            </a:pPr>
            <a:r>
              <a:t>Disease = broken price system, not broken parts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9C46A"/>
                </a:solidFill>
                <a:latin typeface="Calibri"/>
              </a:defRPr>
            </a:pPr>
            <a:r>
              <a:t>Trade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480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5"/>
                </a:solidFill>
                <a:latin typeface="Calibri"/>
              </a:defRPr>
            </a:pPr>
            <a:r>
              <a:t>Voluntary exchange succeeds, forced exchange destroys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303520"/>
            <a:ext cx="8503920" cy="1188720"/>
          </a:xfrm>
          <a:prstGeom prst="roundRect">
            <a:avLst/>
          </a:prstGeom>
          <a:solidFill>
            <a:srgbClr val="1B4332"/>
          </a:solidFill>
          <a:ln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95D5B2"/>
                </a:solidFill>
                <a:latin typeface="Calibri"/>
              </a:defRPr>
            </a:pPr>
            <a:r>
              <a:t>Life is the original decentralized network. The self-assembling internet. The adaptive computer that built itself, runs itself, repairs itself, and has been doing so for four billion years.</a:t>
            </a:r>
          </a:p>
          <a:p>
            <a:pPr algn="ctr">
              <a:spcBef>
                <a:spcPts val="600"/>
              </a:spcBef>
              <a:defRPr sz="1500" b="1">
                <a:solidFill>
                  <a:srgbClr val="E9C46A"/>
                </a:solidFill>
                <a:latin typeface="Calibri"/>
              </a:defRPr>
            </a:pPr>
            <a:r>
              <a:t>The question is not how to program life. It is how to join the computation.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