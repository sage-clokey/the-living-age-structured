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Week 4 progress report.</a:t>
            </a:r>
          </a:p>
          <a:p/>
          <a:p>
            <a:r>
              <a:t>The subtitle references Hayek's Fatal Conceit (1988): 'The curious task of economics is to demonstrate to men how little they really know about what they imagine they can design.' This week I integrated that work into the paper and translated the computational findings into concrete design principles for synthetic biology.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(30 seconds):</a:t>
            </a:r>
          </a:p>
          <a:p/>
          <a:p>
            <a:r>
              <a:t>Same core thesis as previous weeks — living systems as decentralized economies. But this week the project crossed from analysis into synthesis. The three layers of data (topology, economy, trade) are complete. Now I'm translating those findings into actionable design principles for synthetic biology.</a:t>
            </a:r>
          </a:p>
          <a:p/>
          <a:p>
            <a:r>
              <a:t>The key addition: Hayek's Fatal Conceit. His argument that extended orders 'generated without design can far outstrip plans men consciously contrive' maps directly onto the 19:1 robustness ratio we measured in Layer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ACCOMPLISHMENTS (1 minute — split across slides 3 and 4):</a:t>
            </a:r>
          </a:p>
          <a:p/>
          <a:p>
            <a:r>
              <a:t>All four layers are complete and producing figures. The key numbers:</a:t>
            </a:r>
          </a:p>
          <a:p>
            <a:r>
              <a:t>- 19:1 robustness ratio favoring distributed networks</a:t>
            </a:r>
          </a:p>
          <a:p>
            <a:r>
              <a:t>- Communication Gini of 0.0 in PBMC cell economy</a:t>
            </a:r>
          </a:p>
          <a:p>
            <a:r>
              <a:t>- 2.9x lower GDP variance in distributed vs centralized allocation</a:t>
            </a:r>
          </a:p>
          <a:p>
            <a:r>
              <a:t>- FBA (the strongest possible planner) achieves 70% accuracy on knockouts</a:t>
            </a:r>
          </a:p>
          <a:p>
            <a:r>
              <a:t>- Trade blocs emerge spontaneously from codon compatibility</a:t>
            </a:r>
          </a:p>
          <a:p/>
          <a:p>
            <a:r>
              <a:t>Every layer tells the same story from a different angle: biology is a decentralized economy, not a centrally planned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 FATAL CONCEIT &amp; DESIGN PRINCIPLES (45 seconds):</a:t>
            </a:r>
          </a:p>
          <a:p/>
          <a:p>
            <a:r>
              <a:t>The biggest intellectual addition this week is Hayek's Fatal Conceit — his final book, published in 1988. The core argument: 'The curious task of economics is to demonstrate to men how little they really know about what they imagine they can design.' I integrated this into the paper's introduction, discussion, and conclusion.</a:t>
            </a:r>
          </a:p>
          <a:p/>
          <a:p>
            <a:r>
              <a:t>Then I translated the computational findings into two concrete design architectures:</a:t>
            </a:r>
          </a:p>
          <a:p/>
          <a:p>
            <a:r>
              <a:t>Architecture 1: Single organism designed FOR evolution. Instead of codon-optimizing a pathway, you read the shadow prices from FBA, build feedback loops so the cell self-regulates expression, distribute control across multiple promoters, harmonize codons instead of optimizing them, and then let the cell evolve.</a:t>
            </a:r>
          </a:p>
          <a:p/>
          <a:p>
            <a:r>
              <a:t>Architecture 2: Microbial consortium. Split a pathway across multiple strains, each specializing in part of the production. This mirrors the division of labor we measured in the PBMC data.</a:t>
            </a:r>
          </a:p>
          <a:p/>
          <a:p>
            <a:r>
              <a:t>Finally, I designed 6 concrete experiments using the violacein pathway (vioABCDE from Chromobacterium violaceum). Violacein is a purple pigment quantifiable by absorbance at 575nm — cheap to measure, clear signal. Each experiment tests one specific Austrian prediction.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EXPERIMENTAL SPREAD (45 seconds):</a:t>
            </a:r>
          </a:p>
          <a:p/>
          <a:p>
            <a:r>
              <a:t>Six experiments, each testing one Austrian economic prediction:</a:t>
            </a:r>
          </a:p>
          <a:p/>
          <a:p>
            <a:r>
              <a:t>1. Fixed vs Feedback (Hayek's knowledge problem): Compare constitutive promoters (the planner sets expression levels once) against tryptophan-responsive promoters (the cell reads its own metabolite levels and adjusts). Prediction: feedback variants show wider yield distributions but better recovery after perturbation.</a:t>
            </a:r>
          </a:p>
          <a:p/>
          <a:p>
            <a:r>
              <a:t>2. Star vs Distributed (Mises' calculation problem): Put all 5 vio genes under one master promoter (star topology) vs independent promoters. Prediction: star fails catastrophically under any single perturbation.</a:t>
            </a:r>
          </a:p>
          <a:p/>
          <a:p>
            <a:r>
              <a:t>3. Monoculture vs Consortium (Menger's spontaneous order): All genes in one strain vs split across two co-cultured strains. Prediction: consortium shows emergent ratio optimization without tuning.</a:t>
            </a:r>
          </a:p>
          <a:p/>
          <a:p>
            <a:r>
              <a:t>4. Codon Optimization vs Harmonization: CAI-maximized (planner rewrites all codons) vs host-matched harmonization (respects the host's economy). Tests Layer 3 trade barrier predictions.</a:t>
            </a:r>
          </a:p>
          <a:p/>
          <a:p>
            <a:r>
              <a:t>5. Adaptive Evolution: Serial passage both architectures for 100 generations. Feedback variants should improve faster — Kirznerian discovery.</a:t>
            </a:r>
          </a:p>
          <a:p/>
          <a:p>
            <a:r>
              <a:t>6. Perturbation Gauntlet: Hit all constructs with temperature shift, carbon source switch, and sub-MIC antibiotic. Distributed designs should retain more production. Rothbard's fragility argument.</a:t>
            </a:r>
          </a:p>
          <a:p/>
          <a:p>
            <a:r>
              <a:t>All measured by violacein absorbance at 575nm, n=8+ biological replicates.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VISUALIZATION OVERHAUL:</a:t>
            </a:r>
          </a:p>
          <a:p/>
          <a:p>
            <a:r>
              <a:t>Overhauled every plotting function across the entire codebase. The core principle: variation is the signal, not noise. When we show that distributed systems produce more variation that converges through local feedback, hiding that variation behind averages undermines the thesis.</a:t>
            </a:r>
          </a:p>
          <a:p/>
          <a:p>
            <a:r>
              <a:t>Every bar chart now shows semi-transparent bars with individual data points scattered on top. Robustness curves show each random trial as a thin line behind the average. Hub erosion plots show per-hub betweenness changes as jittered scatter with median lines.</a:t>
            </a:r>
          </a:p>
          <a:p/>
          <a:p>
            <a:r>
              <a:t>This affected 6 files and all 21 figures. The pipeline regenerates everything from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p>
            <a:r>
              <a:t>1. Statistical validation — add proper nonparametric tests to every comparison. Mann-Whitney U for distributed vs centralized GDP. Bootstrap CIs on robustness metrics. KS test for power-law fit.</a:t>
            </a:r>
          </a:p>
          <a:p/>
          <a:p>
            <a:r>
              <a:t>2. Full pipeline run with live API data. Currently using built-in quick-mode data for speed. The full run pulls from RegulonDB, KEGG, and STRING directly.</a:t>
            </a:r>
          </a:p>
          <a:p/>
          <a:p>
            <a:r>
              <a:t>3. Finalize paper for advisor review. Todd Lowe and Josh Stuart need to see the experimental spread — it needs to be feasible within the resources available.</a:t>
            </a:r>
          </a:p>
          <a:p/>
          <a:p>
            <a:r>
              <a:t>4. Begin poster layout. The three-layer structure maps naturally to a visual hierarchy: topology → economy → trade.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l">
              <a:defRPr sz="4000" b="1">
                <a:solidFill>
                  <a:srgbClr val="52B788"/>
                </a:solidFill>
                <a:latin typeface="Calibri"/>
              </a:defRPr>
            </a:pPr>
            <a:r>
              <a:t>Living Systems as Decentralized Economies</a:t>
            </a:r>
          </a:p>
        </p:txBody>
      </p:sp>
      <p:sp>
        <p:nvSpPr>
          <p:cNvPr id="4" name="TextBox 3"/>
          <p:cNvSpPr txBox="1"/>
          <p:nvPr/>
        </p:nvSpPr>
        <p:spPr>
          <a:xfrm>
            <a:off x="914400" y="2560320"/>
            <a:ext cx="10058400" cy="731520"/>
          </a:xfrm>
          <a:prstGeom prst="rect">
            <a:avLst/>
          </a:prstGeom>
          <a:noFill/>
        </p:spPr>
        <p:txBody>
          <a:bodyPr wrap="square">
            <a:spAutoFit/>
          </a:bodyPr>
          <a:lstStyle/>
          <a:p>
            <a:pPr algn="l">
              <a:defRPr sz="2200" b="0">
                <a:solidFill>
                  <a:srgbClr val="E9C46A"/>
                </a:solidFill>
                <a:latin typeface="Calibri"/>
              </a:defRPr>
            </a:pPr>
            <a:r>
              <a:t>The Curious Task: From Data to Design Principles</a:t>
            </a:r>
          </a:p>
        </p:txBody>
      </p:sp>
      <p:sp>
        <p:nvSpPr>
          <p:cNvPr id="5" name="TextBox 4"/>
          <p:cNvSpPr txBox="1"/>
          <p:nvPr/>
        </p:nvSpPr>
        <p:spPr>
          <a:xfrm>
            <a:off x="914400" y="3840480"/>
            <a:ext cx="10058400" cy="457200"/>
          </a:xfrm>
          <a:prstGeom prst="rect">
            <a:avLst/>
          </a:prstGeom>
          <a:noFill/>
        </p:spPr>
        <p:txBody>
          <a:bodyPr wrap="square">
            <a:spAutoFit/>
          </a:bodyPr>
          <a:lstStyle/>
          <a:p>
            <a:pPr algn="l">
              <a:defRPr sz="1600" b="0">
                <a:solidFill>
                  <a:srgbClr val="8B949E"/>
                </a:solidFill>
                <a:latin typeface="Calibri"/>
              </a:defRPr>
            </a:pPr>
            <a:r>
              <a:t>BME 129C Capstone  |  Week 4 Progress Report</a:t>
            </a:r>
          </a:p>
        </p:txBody>
      </p:sp>
      <p:sp>
        <p:nvSpPr>
          <p:cNvPr id="6" name="TextBox 5"/>
          <p:cNvSpPr txBox="1"/>
          <p:nvPr/>
        </p:nvSpPr>
        <p:spPr>
          <a:xfrm>
            <a:off x="914400" y="4389120"/>
            <a:ext cx="10058400" cy="457200"/>
          </a:xfrm>
          <a:prstGeom prst="rect">
            <a:avLst/>
          </a:prstGeom>
          <a:noFill/>
        </p:spPr>
        <p:txBody>
          <a:bodyPr wrap="square">
            <a:spAutoFit/>
          </a:bodyPr>
          <a:lstStyle/>
          <a:p>
            <a:pPr algn="l">
              <a:defRPr sz="1800" b="0">
                <a:solidFill>
                  <a:srgbClr val="95D5B2"/>
                </a:solidFill>
                <a:latin typeface="Calibri"/>
              </a:defRPr>
            </a:pPr>
            <a:r>
              <a:t>Sage Clokey   |   Spring 2026   |   UC Santa Cruz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5486400" cy="548640"/>
          </a:xfrm>
          <a:prstGeom prst="rect">
            <a:avLst/>
          </a:prstGeom>
          <a:noFill/>
        </p:spPr>
        <p:txBody>
          <a:bodyPr wrap="square">
            <a:spAutoFit/>
          </a:bodyPr>
          <a:lstStyle/>
          <a:p>
            <a:pPr algn="l">
              <a:defRPr sz="3200" b="1">
                <a:solidFill>
                  <a:srgbClr val="E9C46A"/>
                </a:solidFill>
                <a:latin typeface="Calibri"/>
              </a:defRPr>
            </a:pPr>
            <a:r>
              <a:t>Goal &amp; Approach</a:t>
            </a:r>
          </a:p>
        </p:txBody>
      </p:sp>
      <p:sp>
        <p:nvSpPr>
          <p:cNvPr id="4" name="TextBox 3"/>
          <p:cNvSpPr txBox="1"/>
          <p:nvPr/>
        </p:nvSpPr>
        <p:spPr>
          <a:xfrm>
            <a:off x="731520" y="1097280"/>
            <a:ext cx="5029200" cy="5029200"/>
          </a:xfrm>
          <a:prstGeom prst="rect">
            <a:avLst/>
          </a:prstGeom>
          <a:noFill/>
        </p:spPr>
        <p:txBody>
          <a:bodyPr wrap="square">
            <a:spAutoFit/>
          </a:bodyPr>
          <a:lstStyle/>
          <a:p>
            <a:pPr>
              <a:spcAft>
                <a:spcPts val="800"/>
              </a:spcAft>
              <a:defRPr sz="1600">
                <a:solidFill>
                  <a:srgbClr val="FFFFFF"/>
                </a:solidFill>
                <a:latin typeface="Calibri"/>
              </a:defRPr>
            </a:pPr>
            <a:r>
              <a:t>Thesis: living systems operate as decentralized economies</a:t>
            </a:r>
          </a:p>
          <a:p>
            <a:pPr lvl="1">
              <a:spcAft>
                <a:spcPts val="400"/>
              </a:spcAft>
              <a:defRPr sz="1400">
                <a:solidFill>
                  <a:srgbClr val="8B949E"/>
                </a:solidFill>
                <a:latin typeface="Calibri"/>
              </a:defRPr>
            </a:pPr>
            <a:r>
              <a:t>Not metaphor — measurable structural equivalence</a:t>
            </a:r>
          </a:p>
          <a:p>
            <a:pPr>
              <a:spcAft>
                <a:spcPts val="800"/>
              </a:spcAft>
              <a:defRPr sz="1600">
                <a:solidFill>
                  <a:srgbClr val="FFFFFF"/>
                </a:solidFill>
                <a:latin typeface="Calibri"/>
              </a:defRPr>
            </a:pPr>
            <a:r>
              <a:t>Hayek's Fatal Conceit (1988): 'order generated without design</a:t>
            </a:r>
          </a:p>
          <a:p>
            <a:pPr lvl="1">
              <a:spcAft>
                <a:spcPts val="400"/>
              </a:spcAft>
              <a:defRPr sz="1400">
                <a:solidFill>
                  <a:srgbClr val="8B949E"/>
                </a:solidFill>
                <a:latin typeface="Calibri"/>
              </a:defRPr>
            </a:pPr>
            <a:r>
              <a:t>can far outstrip plans men consciously contrive' (p. 6)</a:t>
            </a:r>
          </a:p>
          <a:p>
            <a:pPr>
              <a:spcAft>
                <a:spcPts val="800"/>
              </a:spcAft>
              <a:defRPr sz="1600">
                <a:solidFill>
                  <a:srgbClr val="FFFFFF"/>
                </a:solidFill>
                <a:latin typeface="Calibri"/>
              </a:defRPr>
            </a:pPr>
            <a:r>
              <a:t>Three layers of convergent evidence:</a:t>
            </a:r>
          </a:p>
          <a:p>
            <a:pPr lvl="1">
              <a:spcAft>
                <a:spcPts val="400"/>
              </a:spcAft>
              <a:defRPr sz="1400">
                <a:solidFill>
                  <a:srgbClr val="8B949E"/>
                </a:solidFill>
                <a:latin typeface="Calibri"/>
              </a:defRPr>
            </a:pPr>
            <a:r>
              <a:t>Layer 1: Network topology — no master node (RegulonDB, STRING, KEGG)</a:t>
            </a:r>
          </a:p>
          <a:p>
            <a:pPr lvl="1">
              <a:spcAft>
                <a:spcPts val="400"/>
              </a:spcAft>
              <a:defRPr sz="1400">
                <a:solidFill>
                  <a:srgbClr val="8B949E"/>
                </a:solidFill>
                <a:latin typeface="Calibri"/>
              </a:defRPr>
            </a:pPr>
            <a:r>
              <a:t>Layer 1b: Single-cell economy — cells as specialized agents (pbmc3k)</a:t>
            </a:r>
          </a:p>
          <a:p>
            <a:pPr lvl="1">
              <a:spcAft>
                <a:spcPts val="400"/>
              </a:spcAft>
              <a:defRPr sz="1400">
                <a:solidFill>
                  <a:srgbClr val="8B949E"/>
                </a:solidFill>
                <a:latin typeface="Calibri"/>
              </a:defRPr>
            </a:pPr>
            <a:r>
              <a:t>Layer 2: Economic simulation + FBA — distributed vs centralized</a:t>
            </a:r>
          </a:p>
          <a:p>
            <a:pPr lvl="1">
              <a:spcAft>
                <a:spcPts val="400"/>
              </a:spcAft>
              <a:defRPr sz="1400">
                <a:solidFill>
                  <a:srgbClr val="8B949E"/>
                </a:solidFill>
                <a:latin typeface="Calibri"/>
              </a:defRPr>
            </a:pPr>
            <a:r>
              <a:t>Layer 3: Cross-species trade — comparative advantage via codon distance</a:t>
            </a:r>
          </a:p>
          <a:p>
            <a:pPr>
              <a:spcAft>
                <a:spcPts val="800"/>
              </a:spcAft>
              <a:defRPr sz="1600">
                <a:solidFill>
                  <a:srgbClr val="FFFFFF"/>
                </a:solidFill>
                <a:latin typeface="Calibri"/>
              </a:defRPr>
            </a:pPr>
            <a:r>
              <a:t>NEW: Design principles — how to engineer with this, not against it</a:t>
            </a:r>
          </a:p>
        </p:txBody>
      </p:sp>
      <p:pic>
        <p:nvPicPr>
          <p:cNvPr id="5" name="Picture 4" descr="L1_robustness_curves.png"/>
          <p:cNvPicPr>
            <a:picLocks noChangeAspect="1"/>
          </p:cNvPicPr>
          <p:nvPr/>
        </p:nvPicPr>
        <p:blipFill>
          <a:blip r:embed="rId2"/>
          <a:stretch>
            <a:fillRect/>
          </a:stretch>
        </p:blipFill>
        <p:spPr>
          <a:xfrm>
            <a:off x="6400800" y="1097280"/>
            <a:ext cx="5303520"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48640"/>
          </a:xfrm>
          <a:prstGeom prst="rect">
            <a:avLst/>
          </a:prstGeom>
          <a:noFill/>
        </p:spPr>
        <p:txBody>
          <a:bodyPr wrap="square">
            <a:spAutoFit/>
          </a:bodyPr>
          <a:lstStyle/>
          <a:p>
            <a:pPr algn="l">
              <a:defRPr sz="3200" b="1">
                <a:solidFill>
                  <a:srgbClr val="E9C46A"/>
                </a:solidFill>
                <a:latin typeface="Calibri"/>
              </a:defRPr>
            </a:pPr>
            <a:r>
              <a:t>Accomplished — All Layers Complete</a:t>
            </a:r>
          </a:p>
        </p:txBody>
      </p:sp>
      <p:sp>
        <p:nvSpPr>
          <p:cNvPr id="4" name="TextBox 3"/>
          <p:cNvSpPr txBox="1"/>
          <p:nvPr/>
        </p:nvSpPr>
        <p:spPr>
          <a:xfrm>
            <a:off x="731520" y="1097280"/>
            <a:ext cx="5029200" cy="4572000"/>
          </a:xfrm>
          <a:prstGeom prst="rect">
            <a:avLst/>
          </a:prstGeom>
          <a:noFill/>
        </p:spPr>
        <p:txBody>
          <a:bodyPr wrap="square">
            <a:spAutoFit/>
          </a:bodyPr>
          <a:lstStyle/>
          <a:p>
            <a:pPr>
              <a:spcAft>
                <a:spcPts val="800"/>
              </a:spcAft>
              <a:defRPr sz="1300">
                <a:solidFill>
                  <a:srgbClr val="F5F5F5"/>
                </a:solidFill>
                <a:latin typeface="Calibri"/>
              </a:defRPr>
            </a:pPr>
            <a:r>
              <a:t>Layer 1: Gene regulatory, metabolic, PPI networks</a:t>
            </a:r>
          </a:p>
          <a:p>
            <a:pPr lvl="1">
              <a:spcAft>
                <a:spcPts val="400"/>
              </a:spcAft>
              <a:defRPr sz="1100">
                <a:solidFill>
                  <a:srgbClr val="8B949E"/>
                </a:solidFill>
                <a:latin typeface="Calibri"/>
              </a:defRPr>
            </a:pPr>
            <a:r>
              <a:t>5 bio networks vs 5 reference architectures</a:t>
            </a:r>
          </a:p>
          <a:p>
            <a:pPr lvl="1">
              <a:spcAft>
                <a:spcPts val="400"/>
              </a:spcAft>
              <a:defRPr sz="1100">
                <a:solidFill>
                  <a:srgbClr val="8B949E"/>
                </a:solidFill>
                <a:latin typeface="Calibri"/>
              </a:defRPr>
            </a:pPr>
            <a:r>
              <a:t>19:1 robustness ratio (distributed vs centralized)</a:t>
            </a:r>
          </a:p>
          <a:p>
            <a:pPr lvl="1">
              <a:spcAft>
                <a:spcPts val="400"/>
              </a:spcAft>
              <a:defRPr sz="1100">
                <a:solidFill>
                  <a:srgbClr val="8B949E"/>
                </a:solidFill>
                <a:latin typeface="Calibri"/>
              </a:defRPr>
            </a:pPr>
            <a:r>
              <a:t>Feed-forward loops = Hayekian price signals (Z &gt; 10)</a:t>
            </a:r>
          </a:p>
          <a:p>
            <a:pPr lvl="1">
              <a:spcAft>
                <a:spcPts val="400"/>
              </a:spcAft>
              <a:defRPr sz="1100">
                <a:solidFill>
                  <a:srgbClr val="8B949E"/>
                </a:solidFill>
                <a:latin typeface="Calibri"/>
              </a:defRPr>
            </a:pPr>
            <a:r>
              <a:t>WBPA: hubs that grow too powerful get eroded</a:t>
            </a:r>
          </a:p>
          <a:p>
            <a:pPr>
              <a:spcAft>
                <a:spcPts val="800"/>
              </a:spcAft>
              <a:defRPr sz="1300">
                <a:solidFill>
                  <a:srgbClr val="F5F5F5"/>
                </a:solidFill>
                <a:latin typeface="Calibri"/>
              </a:defRPr>
            </a:pPr>
            <a:r>
              <a:t>Layer 1b: Single-cell economy (PBMC 3k)</a:t>
            </a:r>
          </a:p>
          <a:p>
            <a:pPr lvl="1">
              <a:spcAft>
                <a:spcPts val="400"/>
              </a:spcAft>
              <a:defRPr sz="1100">
                <a:solidFill>
                  <a:srgbClr val="8B949E"/>
                </a:solidFill>
                <a:latin typeface="Calibri"/>
              </a:defRPr>
            </a:pPr>
            <a:r>
              <a:t>2,638 cells, 8 types — division of labor</a:t>
            </a:r>
          </a:p>
          <a:p>
            <a:pPr lvl="1">
              <a:spcAft>
                <a:spcPts val="400"/>
              </a:spcAft>
              <a:defRPr sz="1100">
                <a:solidFill>
                  <a:srgbClr val="8B949E"/>
                </a:solidFill>
                <a:latin typeface="Calibri"/>
              </a:defRPr>
            </a:pPr>
            <a:r>
              <a:t>Communication Gini = 0.0 (no gatekeeper)</a:t>
            </a:r>
          </a:p>
          <a:p>
            <a:pPr lvl="1">
              <a:spcAft>
                <a:spcPts val="400"/>
              </a:spcAft>
              <a:defRPr sz="1100">
                <a:solidFill>
                  <a:srgbClr val="8B949E"/>
                </a:solidFill>
                <a:latin typeface="Calibri"/>
              </a:defRPr>
            </a:pPr>
            <a:r>
              <a:t>75% communication survives any cell type removal</a:t>
            </a:r>
          </a:p>
        </p:txBody>
      </p:sp>
      <p:sp>
        <p:nvSpPr>
          <p:cNvPr id="5" name="TextBox 4"/>
          <p:cNvSpPr txBox="1"/>
          <p:nvPr/>
        </p:nvSpPr>
        <p:spPr>
          <a:xfrm>
            <a:off x="6400800" y="1097280"/>
            <a:ext cx="5303520" cy="4572000"/>
          </a:xfrm>
          <a:prstGeom prst="rect">
            <a:avLst/>
          </a:prstGeom>
          <a:noFill/>
        </p:spPr>
        <p:txBody>
          <a:bodyPr wrap="square">
            <a:spAutoFit/>
          </a:bodyPr>
          <a:lstStyle/>
          <a:p>
            <a:pPr>
              <a:spcAft>
                <a:spcPts val="800"/>
              </a:spcAft>
              <a:defRPr sz="1300">
                <a:solidFill>
                  <a:srgbClr val="F5F5F5"/>
                </a:solidFill>
                <a:latin typeface="Calibri"/>
              </a:defRPr>
            </a:pPr>
            <a:r>
              <a:t>Layer 2: Economic simulation + FBA</a:t>
            </a:r>
          </a:p>
          <a:p>
            <a:pPr lvl="1">
              <a:spcAft>
                <a:spcPts val="400"/>
              </a:spcAft>
              <a:defRPr sz="1100">
                <a:solidFill>
                  <a:srgbClr val="8B949E"/>
                </a:solidFill>
                <a:latin typeface="Calibri"/>
              </a:defRPr>
            </a:pPr>
            <a:r>
              <a:t>13 pathway agents, distributed: 2.9x lower variance</a:t>
            </a:r>
          </a:p>
          <a:p>
            <a:pPr lvl="1">
              <a:spcAft>
                <a:spcPts val="400"/>
              </a:spcAft>
              <a:defRPr sz="1100">
                <a:solidFill>
                  <a:srgbClr val="8B949E"/>
                </a:solidFill>
                <a:latin typeface="Calibri"/>
              </a:defRPr>
            </a:pPr>
            <a:r>
              <a:t>71% GDP retained under perturbation (vs 53%)</a:t>
            </a:r>
          </a:p>
          <a:p>
            <a:pPr lvl="1">
              <a:spcAft>
                <a:spcPts val="400"/>
              </a:spcAft>
              <a:defRPr sz="1100">
                <a:solidFill>
                  <a:srgbClr val="8B949E"/>
                </a:solidFill>
                <a:latin typeface="Calibri"/>
              </a:defRPr>
            </a:pPr>
            <a:r>
              <a:t>FBA (omniscient planner): 70% knockout accuracy</a:t>
            </a:r>
          </a:p>
          <a:p>
            <a:pPr lvl="1">
              <a:spcAft>
                <a:spcPts val="400"/>
              </a:spcAft>
              <a:defRPr sz="1100">
                <a:solidFill>
                  <a:srgbClr val="8B949E"/>
                </a:solidFill>
                <a:latin typeface="Calibri"/>
              </a:defRPr>
            </a:pPr>
            <a:r>
              <a:t>Shadow prices = Hayekian price signals</a:t>
            </a:r>
          </a:p>
          <a:p>
            <a:pPr>
              <a:spcAft>
                <a:spcPts val="800"/>
              </a:spcAft>
              <a:defRPr sz="1300">
                <a:solidFill>
                  <a:srgbClr val="F5F5F5"/>
                </a:solidFill>
                <a:latin typeface="Calibri"/>
              </a:defRPr>
            </a:pPr>
            <a:r>
              <a:t>Layer 3: Cross-species trade (8 organisms)</a:t>
            </a:r>
          </a:p>
          <a:p>
            <a:pPr lvl="1">
              <a:spcAft>
                <a:spcPts val="400"/>
              </a:spcAft>
              <a:defRPr sz="1100">
                <a:solidFill>
                  <a:srgbClr val="8B949E"/>
                </a:solidFill>
                <a:latin typeface="Calibri"/>
              </a:defRPr>
            </a:pPr>
            <a:r>
              <a:t>Codon distance = trade friction</a:t>
            </a:r>
          </a:p>
          <a:p>
            <a:pPr lvl="1">
              <a:spcAft>
                <a:spcPts val="400"/>
              </a:spcAft>
              <a:defRPr sz="1100">
                <a:solidFill>
                  <a:srgbClr val="8B949E"/>
                </a:solidFill>
                <a:latin typeface="Calibri"/>
              </a:defRPr>
            </a:pPr>
            <a:r>
              <a:t>18 published gene transfers validated</a:t>
            </a:r>
          </a:p>
          <a:p>
            <a:pPr lvl="1">
              <a:spcAft>
                <a:spcPts val="400"/>
              </a:spcAft>
              <a:defRPr sz="1100">
                <a:solidFill>
                  <a:srgbClr val="8B949E"/>
                </a:solidFill>
                <a:latin typeface="Calibri"/>
              </a:defRPr>
            </a:pPr>
            <a:r>
              <a:t>Trade blocs emerge spontaneously (Louvain)</a:t>
            </a:r>
          </a:p>
        </p:txBody>
      </p:sp>
      <p:sp>
        <p:nvSpPr>
          <p:cNvPr id="6" name="TextBox 5"/>
          <p:cNvSpPr txBox="1"/>
          <p:nvPr/>
        </p:nvSpPr>
        <p:spPr>
          <a:xfrm>
            <a:off x="731520" y="5943600"/>
            <a:ext cx="10515600" cy="457200"/>
          </a:xfrm>
          <a:prstGeom prst="rect">
            <a:avLst/>
          </a:prstGeom>
          <a:noFill/>
        </p:spPr>
        <p:txBody>
          <a:bodyPr wrap="square">
            <a:spAutoFit/>
          </a:bodyPr>
          <a:lstStyle/>
          <a:p>
            <a:pPr algn="l">
              <a:defRPr sz="1300" b="0">
                <a:solidFill>
                  <a:srgbClr val="52B788"/>
                </a:solidFill>
                <a:latin typeface="Calibri"/>
              </a:defRPr>
            </a:pPr>
            <a:r>
              <a:t>Full paper draft  |  21 figures  |  Reproducible pipeline (run_all.py)  |  Methods section complete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This Week: The Fatal Conceit → Design Principles</a:t>
            </a:r>
          </a:p>
        </p:txBody>
      </p:sp>
      <p:sp>
        <p:nvSpPr>
          <p:cNvPr id="4" name="TextBox 3"/>
          <p:cNvSpPr txBox="1"/>
          <p:nvPr/>
        </p:nvSpPr>
        <p:spPr>
          <a:xfrm>
            <a:off x="731520" y="914400"/>
            <a:ext cx="10515600" cy="5029200"/>
          </a:xfrm>
          <a:prstGeom prst="rect">
            <a:avLst/>
          </a:prstGeom>
          <a:noFill/>
        </p:spPr>
        <p:txBody>
          <a:bodyPr wrap="square">
            <a:spAutoFit/>
          </a:bodyPr>
          <a:lstStyle/>
          <a:p>
            <a:pPr>
              <a:spcAft>
                <a:spcPts val="800"/>
              </a:spcAft>
              <a:defRPr sz="1500">
                <a:solidFill>
                  <a:srgbClr val="FFFFFF"/>
                </a:solidFill>
                <a:latin typeface="Calibri"/>
              </a:defRPr>
            </a:pPr>
            <a:r>
              <a:t>Integrated Hayek's Fatal Conceit (1988) into paper</a:t>
            </a:r>
          </a:p>
          <a:p>
            <a:pPr lvl="1">
              <a:spcAft>
                <a:spcPts val="400"/>
              </a:spcAft>
              <a:defRPr sz="1300">
                <a:solidFill>
                  <a:srgbClr val="8B949E"/>
                </a:solidFill>
                <a:latin typeface="Calibri"/>
              </a:defRPr>
            </a:pPr>
            <a:r>
              <a:t>'The curious task of economics is to demonstrate to men how little they really know about what they imagine they can design' (p. 76)</a:t>
            </a:r>
          </a:p>
          <a:p>
            <a:pPr lvl="1">
              <a:spcAft>
                <a:spcPts val="400"/>
              </a:spcAft>
              <a:defRPr sz="1300">
                <a:solidFill>
                  <a:srgbClr val="8B949E"/>
                </a:solidFill>
                <a:latin typeface="Calibri"/>
              </a:defRPr>
            </a:pPr>
            <a:r>
              <a:t>Applied to synthetic biology: redesigning evolved order destroys information</a:t>
            </a:r>
          </a:p>
          <a:p>
            <a:pPr>
              <a:spcAft>
                <a:spcPts val="800"/>
              </a:spcAft>
              <a:defRPr sz="1500">
                <a:solidFill>
                  <a:srgbClr val="FFFFFF"/>
                </a:solidFill>
                <a:latin typeface="Calibri"/>
              </a:defRPr>
            </a:pPr>
            <a:r>
              <a:t>Wrote Section 4.2: Design Principles — Engineering Economies, Not Machines</a:t>
            </a:r>
          </a:p>
          <a:p>
            <a:pPr lvl="1">
              <a:spcAft>
                <a:spcPts val="400"/>
              </a:spcAft>
              <a:defRPr sz="1300">
                <a:solidFill>
                  <a:srgbClr val="8B949E"/>
                </a:solidFill>
                <a:latin typeface="Calibri"/>
              </a:defRPr>
            </a:pPr>
            <a:r>
              <a:t>Architecture 1: Single organism designed FOR evolution</a:t>
            </a:r>
          </a:p>
          <a:p>
            <a:pPr lvl="1">
              <a:spcAft>
                <a:spcPts val="400"/>
              </a:spcAft>
              <a:defRPr sz="1300">
                <a:solidFill>
                  <a:srgbClr val="8B949E"/>
                </a:solidFill>
                <a:latin typeface="Calibri"/>
              </a:defRPr>
            </a:pPr>
            <a:r>
              <a:t>Architecture 2: Microbial consortium — division of labor</a:t>
            </a:r>
          </a:p>
          <a:p>
            <a:pPr lvl="1">
              <a:spcAft>
                <a:spcPts val="400"/>
              </a:spcAft>
              <a:defRPr sz="1300">
                <a:solidFill>
                  <a:srgbClr val="8B949E"/>
                </a:solidFill>
                <a:latin typeface="Calibri"/>
              </a:defRPr>
            </a:pPr>
            <a:r>
              <a:t>The core shift: read the economy before intervening</a:t>
            </a:r>
          </a:p>
          <a:p>
            <a:pPr>
              <a:spcAft>
                <a:spcPts val="800"/>
              </a:spcAft>
              <a:defRPr sz="1500">
                <a:solidFill>
                  <a:srgbClr val="FFFFFF"/>
                </a:solidFill>
                <a:latin typeface="Calibri"/>
              </a:defRPr>
            </a:pPr>
            <a:r>
              <a:t>Designed Section 4.7: Experimental Spread — 6 Violacein Experiments</a:t>
            </a:r>
          </a:p>
          <a:p>
            <a:pPr lvl="1">
              <a:spcAft>
                <a:spcPts val="400"/>
              </a:spcAft>
              <a:defRPr sz="1300">
                <a:solidFill>
                  <a:srgbClr val="8B949E"/>
                </a:solidFill>
                <a:latin typeface="Calibri"/>
              </a:defRPr>
            </a:pPr>
            <a:r>
              <a:t>Violacein (vioABCDE): purple pigment, 5 genes, quantifiable at 575nm</a:t>
            </a:r>
          </a:p>
          <a:p>
            <a:pPr lvl="1">
              <a:spcAft>
                <a:spcPts val="400"/>
              </a:spcAft>
              <a:defRPr sz="1300">
                <a:solidFill>
                  <a:srgbClr val="8B949E"/>
                </a:solidFill>
                <a:latin typeface="Calibri"/>
              </a:defRPr>
            </a:pPr>
            <a:r>
              <a:t>Each experiment tests one Austrian prediction with wet-lab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Experimental Spread: 6 Tests of Distributed Design</a:t>
            </a:r>
          </a:p>
        </p:txBody>
      </p:sp>
      <p:sp>
        <p:nvSpPr>
          <p:cNvPr id="4" name="TextBox 3"/>
          <p:cNvSpPr txBox="1"/>
          <p:nvPr/>
        </p:nvSpPr>
        <p:spPr>
          <a:xfrm>
            <a:off x="457200" y="914400"/>
            <a:ext cx="5303520" cy="5029200"/>
          </a:xfrm>
          <a:prstGeom prst="rect">
            <a:avLst/>
          </a:prstGeom>
          <a:noFill/>
        </p:spPr>
        <p:txBody>
          <a:bodyPr wrap="square">
            <a:spAutoFit/>
          </a:bodyPr>
          <a:lstStyle/>
          <a:p>
            <a:pPr>
              <a:spcAft>
                <a:spcPts val="800"/>
              </a:spcAft>
              <a:defRPr sz="1400">
                <a:solidFill>
                  <a:srgbClr val="F5F5F5"/>
                </a:solidFill>
                <a:latin typeface="Calibri"/>
              </a:defRPr>
            </a:pPr>
            <a:r>
              <a:t>1. Fixed vs Feedback Promoters (Hayek)</a:t>
            </a:r>
          </a:p>
          <a:p>
            <a:pPr lvl="1">
              <a:spcAft>
                <a:spcPts val="400"/>
              </a:spcAft>
              <a:defRPr sz="1200">
                <a:solidFill>
                  <a:srgbClr val="8B949E"/>
                </a:solidFill>
                <a:latin typeface="Calibri"/>
              </a:defRPr>
            </a:pPr>
            <a:r>
              <a:t>Constitutive vs tryptophan-responsive — knowledge problem</a:t>
            </a:r>
          </a:p>
          <a:p>
            <a:pPr>
              <a:spcAft>
                <a:spcPts val="800"/>
              </a:spcAft>
              <a:defRPr sz="1400">
                <a:solidFill>
                  <a:srgbClr val="F5F5F5"/>
                </a:solidFill>
                <a:latin typeface="Calibri"/>
              </a:defRPr>
            </a:pPr>
            <a:r>
              <a:t>2. Star vs Distributed Control (Mises)</a:t>
            </a:r>
          </a:p>
          <a:p>
            <a:pPr lvl="1">
              <a:spcAft>
                <a:spcPts val="400"/>
              </a:spcAft>
              <a:defRPr sz="1200">
                <a:solidFill>
                  <a:srgbClr val="8B949E"/>
                </a:solidFill>
                <a:latin typeface="Calibri"/>
              </a:defRPr>
            </a:pPr>
            <a:r>
              <a:t>Single master promoter vs 5 independent — calculation problem</a:t>
            </a:r>
          </a:p>
          <a:p>
            <a:pPr>
              <a:spcAft>
                <a:spcPts val="800"/>
              </a:spcAft>
              <a:defRPr sz="1400">
                <a:solidFill>
                  <a:srgbClr val="F5F5F5"/>
                </a:solidFill>
                <a:latin typeface="Calibri"/>
              </a:defRPr>
            </a:pPr>
            <a:r>
              <a:t>3. Single Strain vs Consortium (Menger)</a:t>
            </a:r>
          </a:p>
          <a:p>
            <a:pPr lvl="1">
              <a:spcAft>
                <a:spcPts val="400"/>
              </a:spcAft>
              <a:defRPr sz="1200">
                <a:solidFill>
                  <a:srgbClr val="8B949E"/>
                </a:solidFill>
                <a:latin typeface="Calibri"/>
              </a:defRPr>
            </a:pPr>
            <a:r>
              <a:t>Monolithic vs 2-strain split — spontaneous order</a:t>
            </a:r>
          </a:p>
        </p:txBody>
      </p:sp>
      <p:sp>
        <p:nvSpPr>
          <p:cNvPr id="5" name="TextBox 4"/>
          <p:cNvSpPr txBox="1"/>
          <p:nvPr/>
        </p:nvSpPr>
        <p:spPr>
          <a:xfrm>
            <a:off x="6217920" y="914400"/>
            <a:ext cx="5303520" cy="5029200"/>
          </a:xfrm>
          <a:prstGeom prst="rect">
            <a:avLst/>
          </a:prstGeom>
          <a:noFill/>
        </p:spPr>
        <p:txBody>
          <a:bodyPr wrap="square">
            <a:spAutoFit/>
          </a:bodyPr>
          <a:lstStyle/>
          <a:p>
            <a:pPr>
              <a:spcAft>
                <a:spcPts val="800"/>
              </a:spcAft>
              <a:defRPr sz="1400">
                <a:solidFill>
                  <a:srgbClr val="F5F5F5"/>
                </a:solidFill>
                <a:latin typeface="Calibri"/>
              </a:defRPr>
            </a:pPr>
            <a:r>
              <a:t>4. Codon Optimization vs Harmonization (Layer 3)</a:t>
            </a:r>
          </a:p>
          <a:p>
            <a:pPr lvl="1">
              <a:spcAft>
                <a:spcPts val="400"/>
              </a:spcAft>
              <a:defRPr sz="1200">
                <a:solidFill>
                  <a:srgbClr val="8B949E"/>
                </a:solidFill>
                <a:latin typeface="Calibri"/>
              </a:defRPr>
            </a:pPr>
            <a:r>
              <a:t>CAI-maximized vs host-matched — trade barriers</a:t>
            </a:r>
          </a:p>
          <a:p>
            <a:pPr>
              <a:spcAft>
                <a:spcPts val="800"/>
              </a:spcAft>
              <a:defRPr sz="1400">
                <a:solidFill>
                  <a:srgbClr val="F5F5F5"/>
                </a:solidFill>
                <a:latin typeface="Calibri"/>
              </a:defRPr>
            </a:pPr>
            <a:r>
              <a:t>5. Adaptive Evolution: Fixed vs Feedback (Kirzner)</a:t>
            </a:r>
          </a:p>
          <a:p>
            <a:pPr lvl="1">
              <a:spcAft>
                <a:spcPts val="400"/>
              </a:spcAft>
              <a:defRPr sz="1200">
                <a:solidFill>
                  <a:srgbClr val="8B949E"/>
                </a:solidFill>
                <a:latin typeface="Calibri"/>
              </a:defRPr>
            </a:pPr>
            <a:r>
              <a:t>100 generations serial passage — entrepreneurial discovery</a:t>
            </a:r>
          </a:p>
          <a:p>
            <a:pPr>
              <a:spcAft>
                <a:spcPts val="800"/>
              </a:spcAft>
              <a:defRPr sz="1400">
                <a:solidFill>
                  <a:srgbClr val="F5F5F5"/>
                </a:solidFill>
                <a:latin typeface="Calibri"/>
              </a:defRPr>
            </a:pPr>
            <a:r>
              <a:t>6. Perturbation Gauntlet (Rothbard)</a:t>
            </a:r>
          </a:p>
          <a:p>
            <a:pPr lvl="1">
              <a:spcAft>
                <a:spcPts val="400"/>
              </a:spcAft>
              <a:defRPr sz="1200">
                <a:solidFill>
                  <a:srgbClr val="8B949E"/>
                </a:solidFill>
                <a:latin typeface="Calibri"/>
              </a:defRPr>
            </a:pPr>
            <a:r>
              <a:t>Temperature, carbon, antibiotic — fragility test</a:t>
            </a:r>
          </a:p>
        </p:txBody>
      </p:sp>
      <p:sp>
        <p:nvSpPr>
          <p:cNvPr id="6" name="TextBox 5"/>
          <p:cNvSpPr txBox="1"/>
          <p:nvPr/>
        </p:nvSpPr>
        <p:spPr>
          <a:xfrm>
            <a:off x="731520" y="5303520"/>
            <a:ext cx="10515600" cy="1097280"/>
          </a:xfrm>
          <a:prstGeom prst="rect">
            <a:avLst/>
          </a:prstGeom>
          <a:noFill/>
        </p:spPr>
        <p:txBody>
          <a:bodyPr wrap="square">
            <a:spAutoFit/>
          </a:bodyPr>
          <a:lstStyle/>
          <a:p>
            <a:pPr algn="l">
              <a:defRPr sz="1300" b="0">
                <a:solidFill>
                  <a:srgbClr val="95D5B2"/>
                </a:solidFill>
                <a:latin typeface="Calibri"/>
              </a:defRPr>
            </a:pPr>
            <a:r>
              <a:t>Prediction: distributed designs show higher VARIATION but equal or better MEDIAN yield — and dramatically better robustness under perturbation.</a:t>
            </a:r>
            <a:br/>
            <a:r>
              <a:t>Measurement: violacein absorbance at 575nm across n=8+ biological replicates per condition.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This Week: Data-Point-Forward Visualization</a:t>
            </a:r>
          </a:p>
        </p:txBody>
      </p:sp>
      <p:sp>
        <p:nvSpPr>
          <p:cNvPr id="4" name="TextBox 3"/>
          <p:cNvSpPr txBox="1"/>
          <p:nvPr/>
        </p:nvSpPr>
        <p:spPr>
          <a:xfrm>
            <a:off x="731520" y="914400"/>
            <a:ext cx="5029200" cy="5029200"/>
          </a:xfrm>
          <a:prstGeom prst="rect">
            <a:avLst/>
          </a:prstGeom>
          <a:noFill/>
        </p:spPr>
        <p:txBody>
          <a:bodyPr wrap="square">
            <a:spAutoFit/>
          </a:bodyPr>
          <a:lstStyle/>
          <a:p>
            <a:pPr>
              <a:spcAft>
                <a:spcPts val="800"/>
              </a:spcAft>
              <a:defRPr sz="1500">
                <a:solidFill>
                  <a:srgbClr val="FFFFFF"/>
                </a:solidFill>
                <a:latin typeface="Calibri"/>
              </a:defRPr>
            </a:pPr>
            <a:r>
              <a:t>New principle: show every individual data point</a:t>
            </a:r>
          </a:p>
          <a:p>
            <a:pPr lvl="1">
              <a:spcAft>
                <a:spcPts val="400"/>
              </a:spcAft>
              <a:defRPr sz="1300">
                <a:solidFill>
                  <a:srgbClr val="8B949E"/>
                </a:solidFill>
                <a:latin typeface="Calibri"/>
              </a:defRPr>
            </a:pPr>
            <a:r>
              <a:t>Variation IS the data — averages hide what matters</a:t>
            </a:r>
          </a:p>
          <a:p>
            <a:pPr lvl="1">
              <a:spcAft>
                <a:spcPts val="400"/>
              </a:spcAft>
              <a:defRPr sz="1300">
                <a:solidFill>
                  <a:srgbClr val="8B949E"/>
                </a:solidFill>
                <a:latin typeface="Calibri"/>
              </a:defRPr>
            </a:pPr>
            <a:r>
              <a:t>Bar charts → semi-transparent bars with scatter overlay</a:t>
            </a:r>
          </a:p>
          <a:p>
            <a:pPr lvl="1">
              <a:spcAft>
                <a:spcPts val="400"/>
              </a:spcAft>
              <a:defRPr sz="1300">
                <a:solidFill>
                  <a:srgbClr val="8B949E"/>
                </a:solidFill>
                <a:latin typeface="Calibri"/>
              </a:defRPr>
            </a:pPr>
            <a:r>
              <a:t>Robustness curves → individual trial lines behind average</a:t>
            </a:r>
          </a:p>
          <a:p>
            <a:pPr lvl="1">
              <a:spcAft>
                <a:spcPts val="400"/>
              </a:spcAft>
              <a:defRPr sz="1300">
                <a:solidFill>
                  <a:srgbClr val="8B949E"/>
                </a:solidFill>
                <a:latin typeface="Calibri"/>
              </a:defRPr>
            </a:pPr>
            <a:r>
              <a:t>Hub erosion → per-hub jitter plots with median lines</a:t>
            </a:r>
          </a:p>
          <a:p>
            <a:pPr>
              <a:spcAft>
                <a:spcPts val="800"/>
              </a:spcAft>
              <a:defRPr sz="1500">
                <a:solidFill>
                  <a:srgbClr val="FFFFFF"/>
                </a:solidFill>
                <a:latin typeface="Calibri"/>
              </a:defRPr>
            </a:pPr>
            <a:r>
              <a:t>Updated 6 analysis files across all layers</a:t>
            </a:r>
          </a:p>
          <a:p>
            <a:pPr lvl="1">
              <a:spcAft>
                <a:spcPts val="400"/>
              </a:spcAft>
              <a:defRPr sz="1300">
                <a:solidFill>
                  <a:srgbClr val="8B949E"/>
                </a:solidFill>
                <a:latin typeface="Calibri"/>
              </a:defRPr>
            </a:pPr>
            <a:r>
              <a:t>topology_analysis.py, self_regulation.py, cell_economy_figures.py</a:t>
            </a:r>
          </a:p>
          <a:p>
            <a:pPr lvl="1">
              <a:spcAft>
                <a:spcPts val="400"/>
              </a:spcAft>
              <a:defRPr sz="1300">
                <a:solidFill>
                  <a:srgbClr val="8B949E"/>
                </a:solidFill>
                <a:latin typeface="Calibri"/>
              </a:defRPr>
            </a:pPr>
            <a:r>
              <a:t>metabolic_economy.py, single_cell_economy.py, fba_analysis.py</a:t>
            </a:r>
          </a:p>
          <a:p>
            <a:pPr>
              <a:spcAft>
                <a:spcPts val="800"/>
              </a:spcAft>
              <a:defRPr sz="1500">
                <a:solidFill>
                  <a:srgbClr val="FFFFFF"/>
                </a:solidFill>
                <a:latin typeface="Calibri"/>
              </a:defRPr>
            </a:pPr>
            <a:r>
              <a:t>Regenerated all 21 figures through full pipeline</a:t>
            </a:r>
          </a:p>
        </p:txBody>
      </p:sp>
      <p:pic>
        <p:nvPicPr>
          <p:cNvPr id="5" name="Picture 4" descr="L1_robustness_curves.png"/>
          <p:cNvPicPr>
            <a:picLocks noChangeAspect="1"/>
          </p:cNvPicPr>
          <p:nvPr/>
        </p:nvPicPr>
        <p:blipFill>
          <a:blip r:embed="rId2"/>
          <a:stretch>
            <a:fillRect/>
          </a:stretch>
        </p:blipFill>
        <p:spPr>
          <a:xfrm>
            <a:off x="6400800" y="914400"/>
            <a:ext cx="5303520" cy="2560320"/>
          </a:xfrm>
          <a:prstGeom prst="rect">
            <a:avLst/>
          </a:prstGeom>
        </p:spPr>
      </p:pic>
      <p:pic>
        <p:nvPicPr>
          <p:cNvPr id="6" name="Picture 5" descr="L2_perturbation_robustness.png"/>
          <p:cNvPicPr>
            <a:picLocks noChangeAspect="1"/>
          </p:cNvPicPr>
          <p:nvPr/>
        </p:nvPicPr>
        <p:blipFill>
          <a:blip r:embed="rId3"/>
          <a:stretch>
            <a:fillRect/>
          </a:stretch>
        </p:blipFill>
        <p:spPr>
          <a:xfrm>
            <a:off x="6400800" y="3657600"/>
            <a:ext cx="5303520" cy="2560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48640"/>
          </a:xfrm>
          <a:prstGeom prst="rect">
            <a:avLst/>
          </a:prstGeom>
          <a:noFill/>
        </p:spPr>
        <p:txBody>
          <a:bodyPr wrap="square">
            <a:spAutoFit/>
          </a:bodyPr>
          <a:lstStyle/>
          <a:p>
            <a:pPr algn="l">
              <a:defRPr sz="3200" b="1">
                <a:solidFill>
                  <a:srgbClr val="E9C46A"/>
                </a:solidFill>
                <a:latin typeface="Calibri"/>
              </a:defRPr>
            </a:pPr>
            <a:r>
              <a:t>Next Steps</a:t>
            </a:r>
          </a:p>
        </p:txBody>
      </p:sp>
      <p:sp>
        <p:nvSpPr>
          <p:cNvPr id="4" name="TextBox 3"/>
          <p:cNvSpPr txBox="1"/>
          <p:nvPr/>
        </p:nvSpPr>
        <p:spPr>
          <a:xfrm>
            <a:off x="731520" y="1188720"/>
            <a:ext cx="5029200" cy="5029200"/>
          </a:xfrm>
          <a:prstGeom prst="rect">
            <a:avLst/>
          </a:prstGeom>
          <a:noFill/>
        </p:spPr>
        <p:txBody>
          <a:bodyPr wrap="square">
            <a:spAutoFit/>
          </a:bodyPr>
          <a:lstStyle/>
          <a:p>
            <a:pPr>
              <a:spcAft>
                <a:spcPts val="800"/>
              </a:spcAft>
              <a:defRPr sz="1600">
                <a:solidFill>
                  <a:srgbClr val="FFFFFF"/>
                </a:solidFill>
                <a:latin typeface="Calibri"/>
              </a:defRPr>
            </a:pPr>
            <a:r>
              <a:t>Statistical validation</a:t>
            </a:r>
          </a:p>
          <a:p>
            <a:pPr lvl="1">
              <a:spcAft>
                <a:spcPts val="400"/>
              </a:spcAft>
              <a:defRPr sz="1400">
                <a:solidFill>
                  <a:srgbClr val="8B949E"/>
                </a:solidFill>
                <a:latin typeface="Calibri"/>
              </a:defRPr>
            </a:pPr>
            <a:r>
              <a:t>Mann-Whitney U for distributed vs centralized GDP distributions</a:t>
            </a:r>
          </a:p>
          <a:p>
            <a:pPr lvl="1">
              <a:spcAft>
                <a:spcPts val="400"/>
              </a:spcAft>
              <a:defRPr sz="1400">
                <a:solidFill>
                  <a:srgbClr val="8B949E"/>
                </a:solidFill>
                <a:latin typeface="Calibri"/>
              </a:defRPr>
            </a:pPr>
            <a:r>
              <a:t>Bootstrap confidence intervals on robustness metrics</a:t>
            </a:r>
          </a:p>
          <a:p>
            <a:pPr lvl="1">
              <a:spcAft>
                <a:spcPts val="400"/>
              </a:spcAft>
              <a:defRPr sz="1400">
                <a:solidFill>
                  <a:srgbClr val="8B949E"/>
                </a:solidFill>
                <a:latin typeface="Calibri"/>
              </a:defRPr>
            </a:pPr>
            <a:r>
              <a:t>KS test for power-law degree distribution fit</a:t>
            </a:r>
          </a:p>
          <a:p>
            <a:pPr>
              <a:spcAft>
                <a:spcPts val="800"/>
              </a:spcAft>
              <a:defRPr sz="1600">
                <a:solidFill>
                  <a:srgbClr val="FFFFFF"/>
                </a:solidFill>
                <a:latin typeface="Calibri"/>
              </a:defRPr>
            </a:pPr>
            <a:r>
              <a:t>Run full pipeline with live API data</a:t>
            </a:r>
          </a:p>
          <a:p>
            <a:pPr lvl="1">
              <a:spcAft>
                <a:spcPts val="400"/>
              </a:spcAft>
              <a:defRPr sz="1400">
                <a:solidFill>
                  <a:srgbClr val="8B949E"/>
                </a:solidFill>
                <a:latin typeface="Calibri"/>
              </a:defRPr>
            </a:pPr>
            <a:r>
              <a:t>Full RegulonDB, KEGG, STRING networks</a:t>
            </a:r>
          </a:p>
          <a:p>
            <a:pPr lvl="1">
              <a:spcAft>
                <a:spcPts val="400"/>
              </a:spcAft>
              <a:defRPr sz="1400">
                <a:solidFill>
                  <a:srgbClr val="8B949E"/>
                </a:solidFill>
                <a:latin typeface="Calibri"/>
              </a:defRPr>
            </a:pPr>
            <a:r>
              <a:t>1,000 randomizations for motif analysis</a:t>
            </a:r>
          </a:p>
          <a:p>
            <a:pPr>
              <a:spcAft>
                <a:spcPts val="800"/>
              </a:spcAft>
              <a:defRPr sz="1600">
                <a:solidFill>
                  <a:srgbClr val="FFFFFF"/>
                </a:solidFill>
                <a:latin typeface="Calibri"/>
              </a:defRPr>
            </a:pPr>
            <a:r>
              <a:t>Finalize paper for advisor review</a:t>
            </a:r>
          </a:p>
          <a:p>
            <a:pPr lvl="1">
              <a:spcAft>
                <a:spcPts val="400"/>
              </a:spcAft>
              <a:defRPr sz="1400">
                <a:solidFill>
                  <a:srgbClr val="8B949E"/>
                </a:solidFill>
                <a:latin typeface="Calibri"/>
              </a:defRPr>
            </a:pPr>
            <a:r>
              <a:t>Integrate Fatal Conceit quotes into remaining sections</a:t>
            </a:r>
          </a:p>
          <a:p>
            <a:pPr lvl="1">
              <a:spcAft>
                <a:spcPts val="400"/>
              </a:spcAft>
              <a:defRPr sz="1400">
                <a:solidFill>
                  <a:srgbClr val="8B949E"/>
                </a:solidFill>
                <a:latin typeface="Calibri"/>
              </a:defRPr>
            </a:pPr>
            <a:r>
              <a:t>Polish experimental spread section for feasibility feedback</a:t>
            </a:r>
          </a:p>
          <a:p>
            <a:pPr>
              <a:spcAft>
                <a:spcPts val="800"/>
              </a:spcAft>
              <a:defRPr sz="1600">
                <a:solidFill>
                  <a:srgbClr val="FFFFFF"/>
                </a:solidFill>
                <a:latin typeface="Calibri"/>
              </a:defRPr>
            </a:pPr>
            <a:r>
              <a:t>Begin poster layout</a:t>
            </a:r>
          </a:p>
          <a:p>
            <a:pPr lvl="1">
              <a:spcAft>
                <a:spcPts val="400"/>
              </a:spcAft>
              <a:defRPr sz="1400">
                <a:solidFill>
                  <a:srgbClr val="8B949E"/>
                </a:solidFill>
                <a:latin typeface="Calibri"/>
              </a:defRPr>
            </a:pPr>
            <a:r>
              <a:t>Three-layer visual with key figures and one-line findings</a:t>
            </a:r>
          </a:p>
        </p:txBody>
      </p:sp>
      <p:sp>
        <p:nvSpPr>
          <p:cNvPr id="5" name="Rounded Rectangle 4"/>
          <p:cNvSpPr/>
          <p:nvPr/>
        </p:nvSpPr>
        <p:spPr>
          <a:xfrm>
            <a:off x="6858000" y="1371600"/>
            <a:ext cx="4572000" cy="4114800"/>
          </a:xfrm>
          <a:prstGeom prst="roundRect">
            <a:avLst/>
          </a:prstGeom>
          <a:solidFill>
            <a:srgbClr val="1B4332"/>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9C46A"/>
                </a:solidFill>
                <a:latin typeface="Calibri"/>
              </a:defRPr>
            </a:pPr>
            <a:r>
              <a:t>Week 4 Summary</a:t>
            </a:r>
          </a:p>
          <a:p>
            <a:br/>
            <a:pPr algn="ctr">
              <a:defRPr sz="1400">
                <a:solidFill>
                  <a:srgbClr val="95D5B2"/>
                </a:solidFill>
                <a:latin typeface="Calibri"/>
              </a:defRPr>
            </a:pPr>
            <a:r>
              <a:t>The data says biology is an economy.</a:t>
            </a:r>
            <a:br/>
            <a:br/>
            <a:r>
              <a:t>This week: what that means for</a:t>
            </a:r>
            <a:br/>
            <a:r>
              <a:t>how we engineer.</a:t>
            </a:r>
            <a:br/>
            <a:br/>
            <a:r>
              <a:t>Not optimize — cultivate.</a:t>
            </a:r>
            <a:br/>
            <a:r>
              <a:t>Not command — steward.</a:t>
            </a:r>
            <a:br/>
            <a:r>
              <a:t>Not design — grow.</a:t>
            </a:r>
            <a:br/>
            <a:br/>
            <a:r>
              <a:t>The Fatal Conceit is thinking</a:t>
            </a:r>
            <a:br/>
            <a:r>
              <a:t>we can do better than</a:t>
            </a:r>
            <a:br/>
            <a:r>
              <a:t>4 billion years of distributed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