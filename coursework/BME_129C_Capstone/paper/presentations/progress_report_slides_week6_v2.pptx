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Week 6 progress report.</a:t>
            </a:r>
          </a:p>
          <a:p/>
          <a:p>
            <a:r>
              <a:t>Oral exam completed last week. This week's central accomplishment: the Price System of the Cell figure, a 4-panel synthesis that shows living systems have a real price system — not as metaphor but as measurable molecular mechanism. Also built the comprehensive figure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ON LAST WEEK'S NEXT STEPS:</a:t>
            </a:r>
          </a:p>
          <a:p/>
          <a:p>
            <a:r>
              <a:t>Oral exam completed last week. Three of four next steps done. The poster is deferred to Week 7 because the price system figure took priority. The figure guide is a major deliverable — it maps every single claim in the paper to a specific figure, explains what the figure should show if the thesis is correct, and what the alternative would look like. This ensures every claim is falsifiable.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 Price Tiers:</a:t>
            </a:r>
          </a:p>
          <a:p/>
          <a:p>
            <a:r>
              <a:t>The cell reads prices at three levels. Intracellular metabolite ratios are the cost of capital — they emerge from the cell's own activity. Intercellular signals are market prices — tissue-level information. mTOR integrates all of these and makes a grow-or-conserve decision. It is the entrepreneur reading the 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B — Shadow Prices:</a:t>
            </a:r>
          </a:p>
          <a:p/>
          <a:p>
            <a:r>
              <a:t>FBA dual variables from the full E. coli genome-scale model under four conditions. The same metabolite has completely different value depending on context. This IS Menger's subjective value theory, measured in a genome-scale model. The molecule doesn't change — the context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C — Price Discovery:</a:t>
            </a:r>
          </a:p>
          <a:p/>
          <a:p>
            <a:r>
              <a:t>Metabolite pools oscillate then converge. Early volatility is the market discovering prices. Late stability is equilibrium found through local feedback alone. No planner needed. This is the invisible hand at the molecular 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D — Cancer Mutations:</a:t>
            </a:r>
          </a:p>
          <a:p/>
          <a:p>
            <a:r>
              <a:t>The most mutated genes in cancer all map to specific components of the price system. Every dot is one cancer type. The variation across types proves it's context-dependent — TP53 is 96% in ovarian but 1% in thyroid. Different tissues break different price components. Cancer isn't a gene disease — it's a price system disease.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EVIDENCE SUMMARY:</a:t>
            </a:r>
          </a:p>
          <a:p/>
          <a:p>
            <a:r>
              <a:t>All 7 layers plus the new price system synthesis. Every layer tells the same story from a different angle. The price system figure is the synthesis — it takes the most powerful findings from Layers 2, 2b, and the cancer data and puts them in one figure that says: the cell has prices, and cancer is what breaks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GUIDE:</a:t>
            </a:r>
          </a:p>
          <a:p/>
          <a:p>
            <a:r>
              <a:t>This is a key deliverable for scientific rigor. The figure guide documents every claim, the corresponding figure, what the figure should show if the thesis is correct, and what the alternative looks like. This ensures that the project is falsifiable — it's not just telling a story, it's making predictions that could be wrong.</a:t>
            </a:r>
          </a:p>
          <a:p/>
          <a:p>
            <a:r>
              <a:t>The guide covers all layers: degree distribution, betweenness Gini, robustness curves, UMAP, specialization scores, communication network, GDP over time, perturbation recovery, rate convergence, metabolite pools, comparative advantage table, trade cost heatmap, trade network graph, and the new price system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FIGURES — the four core layers:</a:t>
            </a:r>
          </a:p>
          <a:p/>
          <a:p>
            <a:r>
              <a:t>Top left: Layer 1 topology — robustness curves showing 19:1 ratio. Biological networks degrade gracefully while the star graph collapses.</a:t>
            </a:r>
          </a:p>
          <a:p/>
          <a:p>
            <a:r>
              <a:t>Top right: Layer 1b single-cell economy — UMAP showing 8 specialized cell types from one genome. Division of labor without a master cell.</a:t>
            </a:r>
          </a:p>
          <a:p/>
          <a:p>
            <a:r>
              <a:t>Bottom left: Layer 2 economy — distributed vs centralized GDP under perturbation. Distributed retains 71% vs 53%.</a:t>
            </a:r>
          </a:p>
          <a:p/>
          <a:p>
            <a:r>
              <a:t>Bottom right: Layer 3 trade — cross-species trade network with codon distance as friction. Trade blocs emerge spontaneously.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p>
            <a:r>
              <a:t>1. Poster layout — deferred from Weeks 5 and 6, now the Week 7 priority. The price system figure is the natural centerpiece.</a:t>
            </a:r>
          </a:p>
          <a:p/>
          <a:p>
            <a:r>
              <a:t>2. Paper finalization — integrate the price system section and cancer analysis into the distributed knowledge paper.</a:t>
            </a:r>
          </a:p>
          <a:p/>
          <a:p>
            <a:r>
              <a:t>3. Sensitivity analysis — the simulation needs to show that the distributed advantage isn't a single-configuration artifact.</a:t>
            </a:r>
          </a:p>
          <a:p/>
          <a:p>
            <a:r>
              <a:t>4. Final presentation — select the strongest figures and draft the narrative arc.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1097280"/>
          </a:xfrm>
          <a:prstGeom prst="rect">
            <a:avLst/>
          </a:prstGeom>
          <a:noFill/>
        </p:spPr>
        <p:txBody>
          <a:bodyPr wrap="square">
            <a:spAutoFit/>
          </a:bodyPr>
          <a:lstStyle/>
          <a:p>
            <a:pPr algn="l">
              <a:defRPr sz="4400" b="1">
                <a:solidFill>
                  <a:srgbClr val="52B788"/>
                </a:solidFill>
                <a:latin typeface="Calibri"/>
              </a:defRPr>
            </a:pPr>
            <a:r>
              <a:t>The Price System of the Cell</a:t>
            </a:r>
          </a:p>
        </p:txBody>
      </p:sp>
      <p:sp>
        <p:nvSpPr>
          <p:cNvPr id="4" name="TextBox 3"/>
          <p:cNvSpPr txBox="1"/>
          <p:nvPr/>
        </p:nvSpPr>
        <p:spPr>
          <a:xfrm>
            <a:off x="914400" y="2377440"/>
            <a:ext cx="10058400" cy="731520"/>
          </a:xfrm>
          <a:prstGeom prst="rect">
            <a:avLst/>
          </a:prstGeom>
          <a:noFill/>
        </p:spPr>
        <p:txBody>
          <a:bodyPr wrap="square">
            <a:spAutoFit/>
          </a:bodyPr>
          <a:lstStyle/>
          <a:p>
            <a:pPr algn="l">
              <a:defRPr sz="2400" b="0">
                <a:solidFill>
                  <a:srgbClr val="E9C46A"/>
                </a:solidFill>
                <a:latin typeface="Calibri"/>
              </a:defRPr>
            </a:pPr>
            <a:r>
              <a:t>Life as a Decentralized Economy</a:t>
            </a:r>
          </a:p>
        </p:txBody>
      </p:sp>
      <p:sp>
        <p:nvSpPr>
          <p:cNvPr id="5" name="TextBox 4"/>
          <p:cNvSpPr txBox="1"/>
          <p:nvPr/>
        </p:nvSpPr>
        <p:spPr>
          <a:xfrm>
            <a:off x="914400" y="3474720"/>
            <a:ext cx="10058400" cy="457200"/>
          </a:xfrm>
          <a:prstGeom prst="rect">
            <a:avLst/>
          </a:prstGeom>
          <a:noFill/>
        </p:spPr>
        <p:txBody>
          <a:bodyPr wrap="square">
            <a:spAutoFit/>
          </a:bodyPr>
          <a:lstStyle/>
          <a:p>
            <a:pPr algn="l">
              <a:defRPr sz="1600" b="0">
                <a:solidFill>
                  <a:srgbClr val="8B949E"/>
                </a:solidFill>
                <a:latin typeface="Calibri"/>
              </a:defRPr>
            </a:pPr>
            <a:r>
              <a:t>BME 129C Capstone  |  Week 6 Progress Report</a:t>
            </a:r>
          </a:p>
        </p:txBody>
      </p:sp>
      <p:sp>
        <p:nvSpPr>
          <p:cNvPr id="6" name="TextBox 5"/>
          <p:cNvSpPr txBox="1"/>
          <p:nvPr/>
        </p:nvSpPr>
        <p:spPr>
          <a:xfrm>
            <a:off x="914400" y="4023360"/>
            <a:ext cx="10058400" cy="457200"/>
          </a:xfrm>
          <a:prstGeom prst="rect">
            <a:avLst/>
          </a:prstGeom>
          <a:noFill/>
        </p:spPr>
        <p:txBody>
          <a:bodyPr wrap="square">
            <a:spAutoFit/>
          </a:bodyPr>
          <a:lstStyle/>
          <a:p>
            <a:pPr algn="l">
              <a:defRPr sz="1800" b="0">
                <a:solidFill>
                  <a:srgbClr val="95D5B2"/>
                </a:solidFill>
                <a:latin typeface="Calibri"/>
              </a:defRPr>
            </a:pPr>
            <a:r>
              <a:t>Sage Clokey   |   Spring 2026   |   UC Santa Cruz</a:t>
            </a:r>
          </a:p>
        </p:txBody>
      </p:sp>
      <p:sp>
        <p:nvSpPr>
          <p:cNvPr id="7" name="TextBox 6"/>
          <p:cNvSpPr txBox="1"/>
          <p:nvPr/>
        </p:nvSpPr>
        <p:spPr>
          <a:xfrm>
            <a:off x="914400" y="5029200"/>
            <a:ext cx="10058400" cy="731520"/>
          </a:xfrm>
          <a:prstGeom prst="rect">
            <a:avLst/>
          </a:prstGeom>
          <a:noFill/>
        </p:spPr>
        <p:txBody>
          <a:bodyPr wrap="square">
            <a:spAutoFit/>
          </a:bodyPr>
          <a:lstStyle/>
          <a:p>
            <a:pPr algn="ctr">
              <a:defRPr sz="1400" b="0">
                <a:solidFill>
                  <a:srgbClr val="8B949E"/>
                </a:solidFill>
                <a:latin typeface="Calibri"/>
              </a:defRPr>
            </a:pPr>
            <a:r>
              <a:t>7 layers of evidence  |  40+ figures  |  Price system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Progress on Last Week's Next Steps</a:t>
            </a:r>
          </a:p>
        </p:txBody>
      </p:sp>
      <p:sp>
        <p:nvSpPr>
          <p:cNvPr id="4" name="TextBox 3"/>
          <p:cNvSpPr txBox="1"/>
          <p:nvPr/>
        </p:nvSpPr>
        <p:spPr>
          <a:xfrm>
            <a:off x="731520" y="914400"/>
            <a:ext cx="10515600" cy="5029200"/>
          </a:xfrm>
          <a:prstGeom prst="rect">
            <a:avLst/>
          </a:prstGeom>
          <a:noFill/>
        </p:spPr>
        <p:txBody>
          <a:bodyPr wrap="square">
            <a:spAutoFit/>
          </a:bodyPr>
          <a:lstStyle/>
          <a:p>
            <a:pPr>
              <a:spcAft>
                <a:spcPts val="800"/>
              </a:spcAft>
              <a:defRPr sz="1500">
                <a:solidFill>
                  <a:srgbClr val="FFFFFF"/>
                </a:solidFill>
                <a:latin typeface="Calibri"/>
              </a:defRPr>
            </a:pPr>
            <a:r>
              <a:t>✔  Oral exam completed (Week 5)</a:t>
            </a:r>
          </a:p>
          <a:p>
            <a:pPr lvl="1">
              <a:spcAft>
                <a:spcPts val="400"/>
              </a:spcAft>
              <a:defRPr sz="1300">
                <a:solidFill>
                  <a:srgbClr val="8B949E"/>
                </a:solidFill>
                <a:latin typeface="Calibri"/>
              </a:defRPr>
            </a:pPr>
            <a:r>
              <a:t>8-minute conversational exam — all 6 questions covered</a:t>
            </a:r>
          </a:p>
          <a:p>
            <a:pPr lvl="1">
              <a:spcAft>
                <a:spcPts val="400"/>
              </a:spcAft>
              <a:defRPr sz="1300">
                <a:solidFill>
                  <a:srgbClr val="8B949E"/>
                </a:solidFill>
                <a:latin typeface="Calibri"/>
              </a:defRPr>
            </a:pPr>
            <a:r>
              <a:t>Problem, goal, novelty, methods, progress, publication path</a:t>
            </a:r>
          </a:p>
          <a:p>
            <a:pPr>
              <a:spcAft>
                <a:spcPts val="800"/>
              </a:spcAft>
              <a:defRPr sz="1500">
                <a:solidFill>
                  <a:srgbClr val="FFFFFF"/>
                </a:solidFill>
                <a:latin typeface="Calibri"/>
              </a:defRPr>
            </a:pPr>
            <a:r>
              <a:t>✔  Price System of the Cell — new 4-panel synthesis figure</a:t>
            </a:r>
          </a:p>
          <a:p>
            <a:pPr lvl="1">
              <a:spcAft>
                <a:spcPts val="400"/>
              </a:spcAft>
              <a:defRPr sz="1300">
                <a:solidFill>
                  <a:srgbClr val="8B949E"/>
                </a:solidFill>
                <a:latin typeface="Calibri"/>
              </a:defRPr>
            </a:pPr>
            <a:r>
              <a:t>Price tiers, shadow prices, price discovery, cancer as price system failure</a:t>
            </a:r>
          </a:p>
          <a:p>
            <a:pPr lvl="1">
              <a:spcAft>
                <a:spcPts val="400"/>
              </a:spcAft>
              <a:defRPr sz="1300">
                <a:solidFill>
                  <a:srgbClr val="8B949E"/>
                </a:solidFill>
                <a:latin typeface="Calibri"/>
              </a:defRPr>
            </a:pPr>
            <a:r>
              <a:t>Unifies Layers 2, 2b, and cancer data into one figure</a:t>
            </a:r>
          </a:p>
          <a:p>
            <a:pPr>
              <a:spcAft>
                <a:spcPts val="800"/>
              </a:spcAft>
              <a:defRPr sz="1500">
                <a:solidFill>
                  <a:srgbClr val="FFFFFF"/>
                </a:solidFill>
                <a:latin typeface="Calibri"/>
              </a:defRPr>
            </a:pPr>
            <a:r>
              <a:t>✔  Comprehensive figure guide</a:t>
            </a:r>
          </a:p>
          <a:p>
            <a:pPr lvl="1">
              <a:spcAft>
                <a:spcPts val="400"/>
              </a:spcAft>
              <a:defRPr sz="1300">
                <a:solidFill>
                  <a:srgbClr val="8B949E"/>
                </a:solidFill>
                <a:latin typeface="Calibri"/>
              </a:defRPr>
            </a:pPr>
            <a:r>
              <a:t>Every claim mapped to a falsifiable visualization</a:t>
            </a:r>
          </a:p>
          <a:p>
            <a:pPr lvl="1">
              <a:spcAft>
                <a:spcPts val="400"/>
              </a:spcAft>
              <a:defRPr sz="1300">
                <a:solidFill>
                  <a:srgbClr val="8B949E"/>
                </a:solidFill>
                <a:latin typeface="Calibri"/>
              </a:defRPr>
            </a:pPr>
            <a:r>
              <a:t>Explicit alternative hypothesis stated for each figure</a:t>
            </a:r>
          </a:p>
          <a:p>
            <a:pPr>
              <a:spcAft>
                <a:spcPts val="800"/>
              </a:spcAft>
              <a:defRPr sz="1500">
                <a:solidFill>
                  <a:srgbClr val="FFFFFF"/>
                </a:solidFill>
                <a:latin typeface="Calibri"/>
              </a:defRPr>
            </a:pPr>
            <a:r>
              <a:t>▶  Poster layout</a:t>
            </a:r>
          </a:p>
          <a:p>
            <a:pPr lvl="1">
              <a:spcAft>
                <a:spcPts val="400"/>
              </a:spcAft>
              <a:defRPr sz="1300">
                <a:solidFill>
                  <a:srgbClr val="8B949E"/>
                </a:solidFill>
                <a:latin typeface="Calibri"/>
              </a:defRPr>
            </a:pPr>
            <a:r>
              <a:t>Deferred to Week 7 — prioritized price system figure and exam</a:t>
            </a:r>
          </a:p>
        </p:txBody>
      </p:sp>
      <p:sp>
        <p:nvSpPr>
          <p:cNvPr id="5" name="TextBox 4"/>
          <p:cNvSpPr txBox="1"/>
          <p:nvPr/>
        </p:nvSpPr>
        <p:spPr>
          <a:xfrm>
            <a:off x="731520" y="5943600"/>
            <a:ext cx="10515600" cy="457200"/>
          </a:xfrm>
          <a:prstGeom prst="rect">
            <a:avLst/>
          </a:prstGeom>
          <a:noFill/>
        </p:spPr>
        <p:txBody>
          <a:bodyPr wrap="square">
            <a:spAutoFit/>
          </a:bodyPr>
          <a:lstStyle/>
          <a:p>
            <a:pPr algn="l">
              <a:defRPr sz="1200" b="0">
                <a:solidFill>
                  <a:srgbClr val="8B949E"/>
                </a:solidFill>
                <a:latin typeface="Calibri"/>
              </a:defRPr>
            </a:pPr>
            <a:r>
              <a:t>✔ = completed     ▶ = deferred with rationale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A: The Cell Has a Real Price System</a:t>
            </a:r>
          </a:p>
        </p:txBody>
      </p:sp>
      <p:pic>
        <p:nvPicPr>
          <p:cNvPr id="4" name="Picture 3" descr="panel_a_price_tiers.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Three tiers of molecular prices:</a:t>
            </a:r>
          </a:p>
          <a:p>
            <a:pPr lvl="1">
              <a:spcAft>
                <a:spcPts val="400"/>
              </a:spcAft>
              <a:defRPr sz="1200">
                <a:solidFill>
                  <a:srgbClr val="8B949E"/>
                </a:solidFill>
                <a:latin typeface="Calibri"/>
              </a:defRPr>
            </a:pPr>
            <a:r>
              <a:t>Intracellular ratios = cost of capital</a:t>
            </a:r>
          </a:p>
          <a:p>
            <a:pPr lvl="1">
              <a:spcAft>
                <a:spcPts val="400"/>
              </a:spcAft>
              <a:defRPr sz="1200">
                <a:solidFill>
                  <a:srgbClr val="8B949E"/>
                </a:solidFill>
                <a:latin typeface="Calibri"/>
              </a:defRPr>
            </a:pPr>
            <a:r>
              <a:t>  ATP/ADP, NAD+/NADH, AMP/ATP</a:t>
            </a:r>
          </a:p>
          <a:p>
            <a:pPr lvl="1">
              <a:spcAft>
                <a:spcPts val="400"/>
              </a:spcAft>
              <a:defRPr sz="1200">
                <a:solidFill>
                  <a:srgbClr val="8B949E"/>
                </a:solidFill>
                <a:latin typeface="Calibri"/>
              </a:defRPr>
            </a:pPr>
            <a:r>
              <a:t>Intercellular signals = market prices</a:t>
            </a:r>
          </a:p>
          <a:p>
            <a:pPr lvl="1">
              <a:spcAft>
                <a:spcPts val="400"/>
              </a:spcAft>
              <a:defRPr sz="1200">
                <a:solidFill>
                  <a:srgbClr val="8B949E"/>
                </a:solidFill>
                <a:latin typeface="Calibri"/>
              </a:defRPr>
            </a:pPr>
            <a:r>
              <a:t>  Cytokines, morphogens, growth factors, O2 tension</a:t>
            </a:r>
          </a:p>
          <a:p>
            <a:pPr>
              <a:spcAft>
                <a:spcPts val="800"/>
              </a:spcAft>
              <a:defRPr sz="1400">
                <a:solidFill>
                  <a:srgbClr val="F5F5F5"/>
                </a:solidFill>
                <a:latin typeface="Calibri"/>
              </a:defRPr>
            </a:pPr>
            <a:r>
              <a:t>mTOR = the entrepreneur</a:t>
            </a:r>
          </a:p>
          <a:p>
            <a:pPr lvl="1">
              <a:spcAft>
                <a:spcPts val="400"/>
              </a:spcAft>
              <a:defRPr sz="1200">
                <a:solidFill>
                  <a:srgbClr val="8B949E"/>
                </a:solidFill>
                <a:latin typeface="Calibri"/>
              </a:defRPr>
            </a:pPr>
            <a:r>
              <a:t>Reads all price inputs simultaneously</a:t>
            </a:r>
          </a:p>
          <a:p>
            <a:pPr lvl="1">
              <a:spcAft>
                <a:spcPts val="400"/>
              </a:spcAft>
              <a:defRPr sz="1200">
                <a:solidFill>
                  <a:srgbClr val="8B949E"/>
                </a:solidFill>
                <a:latin typeface="Calibri"/>
              </a:defRPr>
            </a:pPr>
            <a:r>
              <a:t>Makes a grow-or-conserve decision</a:t>
            </a:r>
          </a:p>
          <a:p>
            <a:pPr lvl="1">
              <a:spcAft>
                <a:spcPts val="400"/>
              </a:spcAft>
              <a:defRPr sz="1200">
                <a:solidFill>
                  <a:srgbClr val="8B949E"/>
                </a:solidFill>
                <a:latin typeface="Calibri"/>
              </a:defRPr>
            </a:pPr>
            <a:r>
              <a:t>No central planner tells it what to do</a:t>
            </a:r>
          </a:p>
          <a:p>
            <a:pPr>
              <a:spcAft>
                <a:spcPts val="800"/>
              </a:spcAft>
              <a:defRPr sz="1400">
                <a:solidFill>
                  <a:srgbClr val="F5F5F5"/>
                </a:solidFill>
                <a:latin typeface="Calibri"/>
              </a:defRPr>
            </a:pPr>
            <a:r>
              <a:t>Not metaphor — measurable molecular signals</a:t>
            </a:r>
          </a:p>
          <a:p>
            <a:pPr lvl="1">
              <a:spcAft>
                <a:spcPts val="400"/>
              </a:spcAft>
              <a:defRPr sz="1200">
                <a:solidFill>
                  <a:srgbClr val="8B949E"/>
                </a:solidFill>
                <a:latin typeface="Calibri"/>
              </a:defRPr>
            </a:pPr>
            <a:r>
              <a:t>Every ratio is quantifiable</a:t>
            </a:r>
          </a:p>
          <a:p>
            <a:pPr lvl="1">
              <a:spcAft>
                <a:spcPts val="400"/>
              </a:spcAft>
              <a:defRPr sz="1200">
                <a:solidFill>
                  <a:srgbClr val="8B949E"/>
                </a:solidFill>
                <a:latin typeface="Calibri"/>
              </a:defRPr>
            </a:pPr>
            <a:r>
              <a:t>Every signal has a known receptor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B: Menger's Subjective Value — Measured</a:t>
            </a:r>
          </a:p>
        </p:txBody>
      </p:sp>
      <p:pic>
        <p:nvPicPr>
          <p:cNvPr id="4" name="Picture 3" descr="panel_b_shadow_prices.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Same metabolite, different value in different conditions</a:t>
            </a:r>
          </a:p>
          <a:p>
            <a:pPr lvl="1">
              <a:spcAft>
                <a:spcPts val="400"/>
              </a:spcAft>
              <a:defRPr sz="1200">
                <a:solidFill>
                  <a:srgbClr val="8B949E"/>
                </a:solidFill>
                <a:latin typeface="Calibri"/>
              </a:defRPr>
            </a:pPr>
            <a:r>
              <a:t>NADH: low price on glucose, high price on acetate</a:t>
            </a:r>
          </a:p>
          <a:p>
            <a:pPr lvl="1">
              <a:spcAft>
                <a:spcPts val="400"/>
              </a:spcAft>
              <a:defRPr sz="1200">
                <a:solidFill>
                  <a:srgbClr val="8B949E"/>
                </a:solidFill>
                <a:latin typeface="Calibri"/>
              </a:defRPr>
            </a:pPr>
            <a:r>
              <a:t>Oxygen: near zero aerobically, spikes under anaerobic</a:t>
            </a:r>
          </a:p>
          <a:p>
            <a:pPr lvl="1">
              <a:spcAft>
                <a:spcPts val="400"/>
              </a:spcAft>
              <a:defRPr sz="1200">
                <a:solidFill>
                  <a:srgbClr val="8B949E"/>
                </a:solidFill>
                <a:latin typeface="Calibri"/>
              </a:defRPr>
            </a:pPr>
            <a:r>
              <a:t>Ammonium: irrelevant normally, critical under nitrogen limitation</a:t>
            </a:r>
          </a:p>
          <a:p>
            <a:pPr>
              <a:spcAft>
                <a:spcPts val="800"/>
              </a:spcAft>
              <a:defRPr sz="1400">
                <a:solidFill>
                  <a:srgbClr val="F5F5F5"/>
                </a:solidFill>
                <a:latin typeface="Calibri"/>
              </a:defRPr>
            </a:pPr>
            <a:r>
              <a:t>FBA shadow prices from iML1515 genome-scale model</a:t>
            </a:r>
          </a:p>
          <a:p>
            <a:pPr lvl="1">
              <a:spcAft>
                <a:spcPts val="400"/>
              </a:spcAft>
              <a:defRPr sz="1200">
                <a:solidFill>
                  <a:srgbClr val="8B949E"/>
                </a:solidFill>
                <a:latin typeface="Calibri"/>
              </a:defRPr>
            </a:pPr>
            <a:r>
              <a:t>2,712 reactions, 1,877 metabolites, 1,516 genes</a:t>
            </a:r>
          </a:p>
          <a:p>
            <a:pPr lvl="1">
              <a:spcAft>
                <a:spcPts val="400"/>
              </a:spcAft>
              <a:defRPr sz="1200">
                <a:solidFill>
                  <a:srgbClr val="8B949E"/>
                </a:solidFill>
                <a:latin typeface="Calibri"/>
              </a:defRPr>
            </a:pPr>
            <a:r>
              <a:t>Shadow prices = dual variables from linear program</a:t>
            </a:r>
          </a:p>
          <a:p>
            <a:pPr lvl="1">
              <a:spcAft>
                <a:spcPts val="400"/>
              </a:spcAft>
              <a:defRPr sz="1200">
                <a:solidFill>
                  <a:srgbClr val="8B949E"/>
                </a:solidFill>
                <a:latin typeface="Calibri"/>
              </a:defRPr>
            </a:pPr>
            <a:r>
              <a:t>Even the omniscient planner must compute prices to solve</a:t>
            </a:r>
          </a:p>
          <a:p>
            <a:pPr>
              <a:spcAft>
                <a:spcPts val="800"/>
              </a:spcAft>
              <a:defRPr sz="1400">
                <a:solidFill>
                  <a:srgbClr val="F5F5F5"/>
                </a:solidFill>
                <a:latin typeface="Calibri"/>
              </a:defRPr>
            </a:pPr>
            <a:r>
              <a:t>Menger (1871): value is subjective, not intrinsic</a:t>
            </a:r>
          </a:p>
          <a:p>
            <a:pPr lvl="1">
              <a:spcAft>
                <a:spcPts val="400"/>
              </a:spcAft>
              <a:defRPr sz="1200">
                <a:solidFill>
                  <a:srgbClr val="8B949E"/>
                </a:solidFill>
                <a:latin typeface="Calibri"/>
              </a:defRPr>
            </a:pPr>
            <a:r>
              <a:t>The molecule doesn't change — the context does</a:t>
            </a:r>
          </a:p>
          <a:p>
            <a:pPr lvl="1">
              <a:spcAft>
                <a:spcPts val="400"/>
              </a:spcAft>
              <a:defRPr sz="1200">
                <a:solidFill>
                  <a:srgbClr val="8B949E"/>
                </a:solidFill>
                <a:latin typeface="Calibri"/>
              </a:defRPr>
            </a:pPr>
            <a:r>
              <a:t>The cell has known this for 4 billion years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C: Price Discovery Without a Planner</a:t>
            </a:r>
          </a:p>
        </p:txBody>
      </p:sp>
      <p:pic>
        <p:nvPicPr>
          <p:cNvPr id="4" name="Picture 3" descr="panel_c_price_discovery.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Metabolite pools oscillate then converge</a:t>
            </a:r>
          </a:p>
          <a:p>
            <a:pPr lvl="1">
              <a:spcAft>
                <a:spcPts val="400"/>
              </a:spcAft>
              <a:defRPr sz="1200">
                <a:solidFill>
                  <a:srgbClr val="8B949E"/>
                </a:solidFill>
                <a:latin typeface="Calibri"/>
              </a:defRPr>
            </a:pPr>
            <a:r>
              <a:t>Early oscillation = discovery phase</a:t>
            </a:r>
          </a:p>
          <a:p>
            <a:pPr lvl="1">
              <a:spcAft>
                <a:spcPts val="400"/>
              </a:spcAft>
              <a:defRPr sz="1200">
                <a:solidFill>
                  <a:srgbClr val="8B949E"/>
                </a:solidFill>
                <a:latin typeface="Calibri"/>
              </a:defRPr>
            </a:pPr>
            <a:r>
              <a:t>Late convergence = equilibrium found</a:t>
            </a:r>
          </a:p>
          <a:p>
            <a:pPr lvl="1">
              <a:spcAft>
                <a:spcPts val="400"/>
              </a:spcAft>
              <a:defRPr sz="1200">
                <a:solidFill>
                  <a:srgbClr val="8B949E"/>
                </a:solidFill>
                <a:latin typeface="Calibri"/>
              </a:defRPr>
            </a:pPr>
            <a:r>
              <a:t>No planner told them where to settle</a:t>
            </a:r>
          </a:p>
          <a:p>
            <a:pPr>
              <a:spcAft>
                <a:spcPts val="800"/>
              </a:spcAft>
              <a:defRPr sz="1400">
                <a:solidFill>
                  <a:srgbClr val="F5F5F5"/>
                </a:solidFill>
                <a:latin typeface="Calibri"/>
              </a:defRPr>
            </a:pPr>
            <a:r>
              <a:t>Supply and demand, happening in a cell</a:t>
            </a:r>
          </a:p>
          <a:p>
            <a:pPr lvl="1">
              <a:spcAft>
                <a:spcPts val="400"/>
              </a:spcAft>
              <a:defRPr sz="1200">
                <a:solidFill>
                  <a:srgbClr val="8B949E"/>
                </a:solidFill>
                <a:latin typeface="Calibri"/>
              </a:defRPr>
            </a:pPr>
            <a:r>
              <a:t>Oversupply = producers slow down (price drops)</a:t>
            </a:r>
          </a:p>
          <a:p>
            <a:pPr lvl="1">
              <a:spcAft>
                <a:spcPts val="400"/>
              </a:spcAft>
              <a:defRPr sz="1200">
                <a:solidFill>
                  <a:srgbClr val="8B949E"/>
                </a:solidFill>
                <a:latin typeface="Calibri"/>
              </a:defRPr>
            </a:pPr>
            <a:r>
              <a:t>Scarcity = producers speed up (price rises)</a:t>
            </a:r>
          </a:p>
          <a:p>
            <a:pPr lvl="1">
              <a:spcAft>
                <a:spcPts val="400"/>
              </a:spcAft>
              <a:defRPr sz="1200">
                <a:solidFill>
                  <a:srgbClr val="8B949E"/>
                </a:solidFill>
                <a:latin typeface="Calibri"/>
              </a:defRPr>
            </a:pPr>
            <a:r>
              <a:t>Local feedback alone drives coordination</a:t>
            </a:r>
          </a:p>
          <a:p>
            <a:pPr>
              <a:spcAft>
                <a:spcPts val="800"/>
              </a:spcAft>
              <a:defRPr sz="1400">
                <a:solidFill>
                  <a:srgbClr val="F5F5F5"/>
                </a:solidFill>
                <a:latin typeface="Calibri"/>
              </a:defRPr>
            </a:pPr>
            <a:r>
              <a:t>The invisible hand at the molecular level</a:t>
            </a:r>
          </a:p>
          <a:p>
            <a:pPr lvl="1">
              <a:spcAft>
                <a:spcPts val="400"/>
              </a:spcAft>
              <a:defRPr sz="1200">
                <a:solidFill>
                  <a:srgbClr val="8B949E"/>
                </a:solidFill>
                <a:latin typeface="Calibri"/>
              </a:defRPr>
            </a:pPr>
            <a:r>
              <a:t>Each agent adjusts based on local conditions</a:t>
            </a:r>
          </a:p>
          <a:p>
            <a:pPr lvl="1">
              <a:spcAft>
                <a:spcPts val="400"/>
              </a:spcAft>
              <a:defRPr sz="1200">
                <a:solidFill>
                  <a:srgbClr val="8B949E"/>
                </a:solidFill>
                <a:latin typeface="Calibri"/>
              </a:defRPr>
            </a:pPr>
            <a:r>
              <a:t>Global order emerges from individual decisions</a:t>
            </a:r>
          </a:p>
          <a:p>
            <a:pPr lvl="1">
              <a:spcAft>
                <a:spcPts val="400"/>
              </a:spcAft>
              <a:defRPr sz="1200">
                <a:solidFill>
                  <a:srgbClr val="8B949E"/>
                </a:solidFill>
                <a:latin typeface="Calibri"/>
              </a:defRPr>
            </a:pPr>
            <a:r>
              <a:t>This is Hayek's price discovery, measured in metabolites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D: Cancer Breaks the Price System</a:t>
            </a:r>
          </a:p>
        </p:txBody>
      </p:sp>
      <p:pic>
        <p:nvPicPr>
          <p:cNvPr id="4" name="Picture 3" descr="panel_d_cancer_price_system.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Most mutated genes map to price system components</a:t>
            </a:r>
          </a:p>
          <a:p>
            <a:pPr lvl="1">
              <a:spcAft>
                <a:spcPts val="400"/>
              </a:spcAft>
              <a:defRPr sz="1200">
                <a:solidFill>
                  <a:srgbClr val="8B949E"/>
                </a:solidFill>
                <a:latin typeface="Calibri"/>
              </a:defRPr>
            </a:pPr>
            <a:r>
              <a:t>TP53 — damage price (apoptosis signal)</a:t>
            </a:r>
          </a:p>
          <a:p>
            <a:pPr lvl="1">
              <a:spcAft>
                <a:spcPts val="400"/>
              </a:spcAft>
              <a:defRPr sz="1200">
                <a:solidFill>
                  <a:srgbClr val="8B949E"/>
                </a:solidFill>
                <a:latin typeface="Calibri"/>
              </a:defRPr>
            </a:pPr>
            <a:r>
              <a:t>PIK3CA, PTEN, mTOR — price integrators</a:t>
            </a:r>
          </a:p>
          <a:p>
            <a:pPr lvl="1">
              <a:spcAft>
                <a:spcPts val="400"/>
              </a:spcAft>
              <a:defRPr sz="1200">
                <a:solidFill>
                  <a:srgbClr val="8B949E"/>
                </a:solidFill>
                <a:latin typeface="Calibri"/>
              </a:defRPr>
            </a:pPr>
            <a:r>
              <a:t>EGFR, ERBB2 — growth factor receptors (price readers)</a:t>
            </a:r>
          </a:p>
          <a:p>
            <a:pPr lvl="1">
              <a:spcAft>
                <a:spcPts val="400"/>
              </a:spcAft>
              <a:defRPr sz="1200">
                <a:solidFill>
                  <a:srgbClr val="8B949E"/>
                </a:solidFill>
                <a:latin typeface="Calibri"/>
              </a:defRPr>
            </a:pPr>
            <a:r>
              <a:t>NF2 — spatial/contact price (Hippo pathway)</a:t>
            </a:r>
          </a:p>
          <a:p>
            <a:pPr>
              <a:spcAft>
                <a:spcPts val="800"/>
              </a:spcAft>
              <a:defRPr sz="1400">
                <a:solidFill>
                  <a:srgbClr val="F5F5F5"/>
                </a:solidFill>
                <a:latin typeface="Calibri"/>
              </a:defRPr>
            </a:pPr>
            <a:r>
              <a:t>The variation IS the signal</a:t>
            </a:r>
          </a:p>
          <a:p>
            <a:pPr lvl="1">
              <a:spcAft>
                <a:spcPts val="400"/>
              </a:spcAft>
              <a:defRPr sz="1200">
                <a:solidFill>
                  <a:srgbClr val="8B949E"/>
                </a:solidFill>
                <a:latin typeface="Calibri"/>
              </a:defRPr>
            </a:pPr>
            <a:r>
              <a:t>TP53: 96% in ovarian, 1% in thyroid</a:t>
            </a:r>
          </a:p>
          <a:p>
            <a:pPr lvl="1">
              <a:spcAft>
                <a:spcPts val="400"/>
              </a:spcAft>
              <a:defRPr sz="1200">
                <a:solidFill>
                  <a:srgbClr val="8B949E"/>
                </a:solidFill>
                <a:latin typeface="Calibri"/>
              </a:defRPr>
            </a:pPr>
            <a:r>
              <a:t>Different tissues rely on different prices</a:t>
            </a:r>
          </a:p>
          <a:p>
            <a:pPr lvl="1">
              <a:spcAft>
                <a:spcPts val="400"/>
              </a:spcAft>
              <a:defRPr sz="1200">
                <a:solidFill>
                  <a:srgbClr val="8B949E"/>
                </a:solidFill>
                <a:latin typeface="Calibri"/>
              </a:defRPr>
            </a:pPr>
            <a:r>
              <a:t>Same gene, completely different importance by context</a:t>
            </a:r>
          </a:p>
          <a:p>
            <a:pPr>
              <a:spcAft>
                <a:spcPts val="800"/>
              </a:spcAft>
              <a:defRPr sz="1400">
                <a:solidFill>
                  <a:srgbClr val="F5F5F5"/>
                </a:solidFill>
                <a:latin typeface="Calibri"/>
              </a:defRPr>
            </a:pPr>
            <a:r>
              <a:t>Cancer is not a gene disease</a:t>
            </a:r>
          </a:p>
          <a:p>
            <a:pPr lvl="1">
              <a:spcAft>
                <a:spcPts val="400"/>
              </a:spcAft>
              <a:defRPr sz="1200">
                <a:solidFill>
                  <a:srgbClr val="8B949E"/>
                </a:solidFill>
                <a:latin typeface="Calibri"/>
              </a:defRPr>
            </a:pPr>
            <a:r>
              <a:t>It's a price system disease</a:t>
            </a:r>
          </a:p>
          <a:p>
            <a:pPr lvl="1">
              <a:spcAft>
                <a:spcPts val="400"/>
              </a:spcAft>
              <a:defRPr sz="1200">
                <a:solidFill>
                  <a:srgbClr val="8B949E"/>
                </a:solidFill>
                <a:latin typeface="Calibri"/>
              </a:defRPr>
            </a:pPr>
            <a:r>
              <a:t>The disease is the broken feedback loop</a:t>
            </a:r>
          </a:p>
          <a:p>
            <a:pPr lvl="1">
              <a:spcAft>
                <a:spcPts val="400"/>
              </a:spcAft>
              <a:defRPr sz="1200">
                <a:solidFill>
                  <a:srgbClr val="8B949E"/>
                </a:solidFill>
                <a:latin typeface="Calibri"/>
              </a:defRPr>
            </a:pPr>
            <a:r>
              <a:t>Variants are not diseases — broken readers are</a:t>
            </a:r>
          </a:p>
        </p:txBody>
      </p:sp>
      <p:sp>
        <p:nvSpPr>
          <p:cNvPr id="6" name="TextBox 5"/>
          <p:cNvSpPr txBox="1"/>
          <p:nvPr/>
        </p:nvSpPr>
        <p:spPr>
          <a:xfrm>
            <a:off x="731520" y="6217920"/>
            <a:ext cx="10515600" cy="457200"/>
          </a:xfrm>
          <a:prstGeom prst="rect">
            <a:avLst/>
          </a:prstGeom>
          <a:noFill/>
        </p:spPr>
        <p:txBody>
          <a:bodyPr wrap="square">
            <a:spAutoFit/>
          </a:bodyPr>
          <a:lstStyle/>
          <a:p>
            <a:pPr algn="l">
              <a:defRPr sz="1500" b="1">
                <a:solidFill>
                  <a:srgbClr val="52B788"/>
                </a:solidFill>
                <a:latin typeface="Calibri"/>
              </a:defRPr>
            </a:pPr>
            <a:r>
              <a:t>The cell has prices. Cancer is what happens when the price system breaks.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Full Evidence: 7 Layers, One Thesis</a:t>
            </a:r>
          </a:p>
        </p:txBody>
      </p:sp>
      <p:sp>
        <p:nvSpPr>
          <p:cNvPr id="4" name="TextBox 3"/>
          <p:cNvSpPr txBox="1"/>
          <p:nvPr/>
        </p:nvSpPr>
        <p:spPr>
          <a:xfrm>
            <a:off x="457200" y="914400"/>
            <a:ext cx="5486400" cy="5029200"/>
          </a:xfrm>
          <a:prstGeom prst="rect">
            <a:avLst/>
          </a:prstGeom>
          <a:noFill/>
        </p:spPr>
        <p:txBody>
          <a:bodyPr wrap="square">
            <a:spAutoFit/>
          </a:bodyPr>
          <a:lstStyle/>
          <a:p>
            <a:pPr>
              <a:spcAft>
                <a:spcPts val="800"/>
              </a:spcAft>
              <a:defRPr sz="1300">
                <a:solidFill>
                  <a:srgbClr val="F5F5F5"/>
                </a:solidFill>
                <a:latin typeface="Calibri"/>
              </a:defRPr>
            </a:pPr>
            <a:r>
              <a:t>Layer 1: Network Topology</a:t>
            </a:r>
          </a:p>
          <a:p>
            <a:pPr lvl="1">
              <a:spcAft>
                <a:spcPts val="400"/>
              </a:spcAft>
              <a:defRPr sz="1100">
                <a:solidFill>
                  <a:srgbClr val="8B949E"/>
                </a:solidFill>
                <a:latin typeface="Calibri"/>
              </a:defRPr>
            </a:pPr>
            <a:r>
              <a:t>No master node — 19:1 robustness ratio vs centralized</a:t>
            </a:r>
          </a:p>
          <a:p>
            <a:pPr lvl="1">
              <a:spcAft>
                <a:spcPts val="400"/>
              </a:spcAft>
              <a:defRPr sz="1100">
                <a:solidFill>
                  <a:srgbClr val="8B949E"/>
                </a:solidFill>
                <a:latin typeface="Calibri"/>
              </a:defRPr>
            </a:pPr>
            <a:r>
              <a:t>Power-law exponent 2.05-2.44 across all bio networks</a:t>
            </a:r>
          </a:p>
          <a:p>
            <a:pPr>
              <a:spcAft>
                <a:spcPts val="800"/>
              </a:spcAft>
              <a:defRPr sz="1300">
                <a:solidFill>
                  <a:srgbClr val="F5F5F5"/>
                </a:solidFill>
                <a:latin typeface="Calibri"/>
              </a:defRPr>
            </a:pPr>
            <a:r>
              <a:t>Layer 1b: Single-Cell Economy</a:t>
            </a:r>
          </a:p>
          <a:p>
            <a:pPr lvl="1">
              <a:spcAft>
                <a:spcPts val="400"/>
              </a:spcAft>
              <a:defRPr sz="1100">
                <a:solidFill>
                  <a:srgbClr val="8B949E"/>
                </a:solidFill>
                <a:latin typeface="Calibri"/>
              </a:defRPr>
            </a:pPr>
            <a:r>
              <a:t>8 cell types, no master cell, communication Gini = 0.0</a:t>
            </a:r>
          </a:p>
          <a:p>
            <a:pPr lvl="1">
              <a:spcAft>
                <a:spcPts val="400"/>
              </a:spcAft>
              <a:defRPr sz="1100">
                <a:solidFill>
                  <a:srgbClr val="8B949E"/>
                </a:solidFill>
                <a:latin typeface="Calibri"/>
              </a:defRPr>
            </a:pPr>
            <a:r>
              <a:t>75% communication survives any single cell type removal</a:t>
            </a:r>
          </a:p>
          <a:p>
            <a:pPr>
              <a:spcAft>
                <a:spcPts val="800"/>
              </a:spcAft>
              <a:defRPr sz="1300">
                <a:solidFill>
                  <a:srgbClr val="F5F5F5"/>
                </a:solidFill>
                <a:latin typeface="Calibri"/>
              </a:defRPr>
            </a:pPr>
            <a:r>
              <a:t>Layer 2: Economic Simulation</a:t>
            </a:r>
          </a:p>
          <a:p>
            <a:pPr lvl="1">
              <a:spcAft>
                <a:spcPts val="400"/>
              </a:spcAft>
              <a:defRPr sz="1100">
                <a:solidFill>
                  <a:srgbClr val="8B949E"/>
                </a:solidFill>
                <a:latin typeface="Calibri"/>
              </a:defRPr>
            </a:pPr>
            <a:r>
              <a:t>Distributed retains 71% under perturbation vs 53% centralized</a:t>
            </a:r>
          </a:p>
          <a:p>
            <a:pPr lvl="1">
              <a:spcAft>
                <a:spcPts val="400"/>
              </a:spcAft>
              <a:defRPr sz="1100">
                <a:solidFill>
                  <a:srgbClr val="8B949E"/>
                </a:solidFill>
                <a:latin typeface="Calibri"/>
              </a:defRPr>
            </a:pPr>
            <a:r>
              <a:t>2.9x lower variance — local feedback finds equilibrium</a:t>
            </a:r>
          </a:p>
          <a:p>
            <a:pPr>
              <a:spcAft>
                <a:spcPts val="800"/>
              </a:spcAft>
              <a:defRPr sz="1300">
                <a:solidFill>
                  <a:srgbClr val="F5F5F5"/>
                </a:solidFill>
                <a:latin typeface="Calibri"/>
              </a:defRPr>
            </a:pPr>
            <a:r>
              <a:t>Layer 2b: FBA — The Omniscient Planner</a:t>
            </a:r>
          </a:p>
          <a:p>
            <a:pPr lvl="1">
              <a:spcAft>
                <a:spcPts val="400"/>
              </a:spcAft>
              <a:defRPr sz="1100">
                <a:solidFill>
                  <a:srgbClr val="8B949E"/>
                </a:solidFill>
                <a:latin typeface="Calibri"/>
              </a:defRPr>
            </a:pPr>
            <a:r>
              <a:t>Even with perfect knowledge: 70% knockout accuracy ceiling</a:t>
            </a:r>
          </a:p>
          <a:p>
            <a:pPr lvl="1">
              <a:spcAft>
                <a:spcPts val="400"/>
              </a:spcAft>
              <a:defRPr sz="1100">
                <a:solidFill>
                  <a:srgbClr val="8B949E"/>
                </a:solidFill>
                <a:latin typeface="Calibri"/>
              </a:defRPr>
            </a:pPr>
            <a:r>
              <a:t>Shadow prices prove metabolite value is context-dependent</a:t>
            </a:r>
          </a:p>
        </p:txBody>
      </p:sp>
      <p:sp>
        <p:nvSpPr>
          <p:cNvPr id="5" name="TextBox 4"/>
          <p:cNvSpPr txBox="1"/>
          <p:nvPr/>
        </p:nvSpPr>
        <p:spPr>
          <a:xfrm>
            <a:off x="6217920" y="914400"/>
            <a:ext cx="5486400" cy="5029200"/>
          </a:xfrm>
          <a:prstGeom prst="rect">
            <a:avLst/>
          </a:prstGeom>
          <a:noFill/>
        </p:spPr>
        <p:txBody>
          <a:bodyPr wrap="square">
            <a:spAutoFit/>
          </a:bodyPr>
          <a:lstStyle/>
          <a:p>
            <a:pPr>
              <a:spcAft>
                <a:spcPts val="800"/>
              </a:spcAft>
              <a:defRPr sz="1300">
                <a:solidFill>
                  <a:srgbClr val="F5F5F5"/>
                </a:solidFill>
                <a:latin typeface="Calibri"/>
              </a:defRPr>
            </a:pPr>
            <a:r>
              <a:t>Layer 3: Cross-Species Trade</a:t>
            </a:r>
          </a:p>
          <a:p>
            <a:pPr lvl="1">
              <a:spcAft>
                <a:spcPts val="400"/>
              </a:spcAft>
              <a:defRPr sz="1100">
                <a:solidFill>
                  <a:srgbClr val="8B949E"/>
                </a:solidFill>
                <a:latin typeface="Calibri"/>
              </a:defRPr>
            </a:pPr>
            <a:r>
              <a:t>Codon distance = trade friction (within-kingdom 0.17-0.38)</a:t>
            </a:r>
          </a:p>
          <a:p>
            <a:pPr lvl="1">
              <a:spcAft>
                <a:spcPts val="400"/>
              </a:spcAft>
              <a:defRPr sz="1100">
                <a:solidFill>
                  <a:srgbClr val="8B949E"/>
                </a:solidFill>
                <a:latin typeface="Calibri"/>
              </a:defRPr>
            </a:pPr>
            <a:r>
              <a:t>Cross-kingdom: 0.65-0.83 — the regulatory trade barrier</a:t>
            </a:r>
          </a:p>
          <a:p>
            <a:pPr>
              <a:spcAft>
                <a:spcPts val="800"/>
              </a:spcAft>
              <a:defRPr sz="1300">
                <a:solidFill>
                  <a:srgbClr val="F5F5F5"/>
                </a:solidFill>
                <a:latin typeface="Calibri"/>
              </a:defRPr>
            </a:pPr>
            <a:r>
              <a:t>Layer 4: Immune System</a:t>
            </a:r>
          </a:p>
          <a:p>
            <a:pPr lvl="1">
              <a:spcAft>
                <a:spcPts val="400"/>
              </a:spcAft>
              <a:defRPr sz="1100">
                <a:solidFill>
                  <a:srgbClr val="8B949E"/>
                </a:solidFill>
                <a:latin typeface="Calibri"/>
              </a:defRPr>
            </a:pPr>
            <a:r>
              <a:t>SHM hotspots: 19:1 enrichment at WRC motifs</a:t>
            </a:r>
          </a:p>
          <a:p>
            <a:pPr lvl="1">
              <a:spcAft>
                <a:spcPts val="400"/>
              </a:spcAft>
              <a:defRPr sz="1100">
                <a:solidFill>
                  <a:srgbClr val="8B949E"/>
                </a:solidFill>
                <a:latin typeface="Calibri"/>
              </a:defRPr>
            </a:pPr>
            <a:r>
              <a:t>Public clonotypes: observed at 10^15 above random chance</a:t>
            </a:r>
          </a:p>
          <a:p>
            <a:pPr>
              <a:spcAft>
                <a:spcPts val="800"/>
              </a:spcAft>
              <a:defRPr sz="1300">
                <a:solidFill>
                  <a:srgbClr val="F5F5F5"/>
                </a:solidFill>
                <a:latin typeface="Calibri"/>
              </a:defRPr>
            </a:pPr>
            <a:r>
              <a:t>Layer 5-7: Genome, Convergence, Viral</a:t>
            </a:r>
          </a:p>
          <a:p>
            <a:pPr lvl="1">
              <a:spcAft>
                <a:spcPts val="400"/>
              </a:spcAft>
              <a:defRPr sz="1100">
                <a:solidFill>
                  <a:srgbClr val="8B949E"/>
                </a:solidFill>
                <a:latin typeface="Calibri"/>
              </a:defRPr>
            </a:pPr>
            <a:r>
              <a:t>CpG mutations: 15-40x baseline from 1% of contexts</a:t>
            </a:r>
          </a:p>
          <a:p>
            <a:pPr lvl="1">
              <a:spcAft>
                <a:spcPts val="400"/>
              </a:spcAft>
              <a:defRPr sz="1100">
                <a:solidFill>
                  <a:srgbClr val="8B949E"/>
                </a:solidFill>
                <a:latin typeface="Calibri"/>
              </a:defRPr>
            </a:pPr>
            <a:r>
              <a:t>35 convergent evolution events across 17 traits</a:t>
            </a:r>
          </a:p>
          <a:p>
            <a:pPr lvl="1">
              <a:spcAft>
                <a:spcPts val="400"/>
              </a:spcAft>
              <a:defRPr sz="1100">
                <a:solidFill>
                  <a:srgbClr val="8B949E"/>
                </a:solidFill>
                <a:latin typeface="Calibri"/>
              </a:defRPr>
            </a:pPr>
            <a:r>
              <a:t>8% of human genome is endogenous retrovirus</a:t>
            </a:r>
          </a:p>
          <a:p>
            <a:pPr>
              <a:spcAft>
                <a:spcPts val="800"/>
              </a:spcAft>
              <a:defRPr sz="1300">
                <a:solidFill>
                  <a:srgbClr val="F5F5F5"/>
                </a:solidFill>
                <a:latin typeface="Calibri"/>
              </a:defRPr>
            </a:pPr>
            <a:r>
              <a:t>NEW: Price System Synthesis</a:t>
            </a:r>
          </a:p>
          <a:p>
            <a:pPr lvl="1">
              <a:spcAft>
                <a:spcPts val="400"/>
              </a:spcAft>
              <a:defRPr sz="1100">
                <a:solidFill>
                  <a:srgbClr val="8B949E"/>
                </a:solidFill>
                <a:latin typeface="Calibri"/>
              </a:defRPr>
            </a:pPr>
            <a:r>
              <a:t>4-panel figure unifying all layers through price theory</a:t>
            </a:r>
          </a:p>
          <a:p>
            <a:pPr lvl="1">
              <a:spcAft>
                <a:spcPts val="400"/>
              </a:spcAft>
              <a:defRPr sz="1100">
                <a:solidFill>
                  <a:srgbClr val="8B949E"/>
                </a:solidFill>
                <a:latin typeface="Calibri"/>
              </a:defRPr>
            </a:pPr>
            <a:r>
              <a:t>Cancer as destruction of the cellular price system</a:t>
            </a:r>
          </a:p>
        </p:txBody>
      </p:sp>
      <p:sp>
        <p:nvSpPr>
          <p:cNvPr id="6" name="TextBox 5"/>
          <p:cNvSpPr txBox="1"/>
          <p:nvPr/>
        </p:nvSpPr>
        <p:spPr>
          <a:xfrm>
            <a:off x="731520" y="5943600"/>
            <a:ext cx="10515600" cy="457200"/>
          </a:xfrm>
          <a:prstGeom prst="rect">
            <a:avLst/>
          </a:prstGeom>
          <a:noFill/>
        </p:spPr>
        <p:txBody>
          <a:bodyPr wrap="square">
            <a:spAutoFit/>
          </a:bodyPr>
          <a:lstStyle/>
          <a:p>
            <a:pPr algn="l">
              <a:defRPr sz="1400" b="1">
                <a:solidFill>
                  <a:srgbClr val="52B788"/>
                </a:solidFill>
                <a:latin typeface="Calibri"/>
              </a:defRPr>
            </a:pPr>
            <a:r>
              <a:t>Every layer independently confirms: distributed knowledge, not central planning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Figure Guide: Every Claim Is Falsifiable</a:t>
            </a:r>
          </a:p>
        </p:txBody>
      </p:sp>
      <p:sp>
        <p:nvSpPr>
          <p:cNvPr id="4" name="TextBox 3"/>
          <p:cNvSpPr txBox="1"/>
          <p:nvPr/>
        </p:nvSpPr>
        <p:spPr>
          <a:xfrm>
            <a:off x="731520" y="822960"/>
            <a:ext cx="10515600" cy="5029200"/>
          </a:xfrm>
          <a:prstGeom prst="rect">
            <a:avLst/>
          </a:prstGeom>
          <a:noFill/>
        </p:spPr>
        <p:txBody>
          <a:bodyPr wrap="square">
            <a:spAutoFit/>
          </a:bodyPr>
          <a:lstStyle/>
          <a:p>
            <a:pPr>
              <a:spcAft>
                <a:spcPts val="800"/>
              </a:spcAft>
              <a:defRPr sz="1500">
                <a:solidFill>
                  <a:srgbClr val="FFFFFF"/>
                </a:solidFill>
                <a:latin typeface="Calibri"/>
              </a:defRPr>
            </a:pPr>
            <a:r>
              <a:t>Built comprehensive figure guide mapping claims to visualizations</a:t>
            </a:r>
          </a:p>
          <a:p>
            <a:pPr lvl="1">
              <a:spcAft>
                <a:spcPts val="400"/>
              </a:spcAft>
              <a:defRPr sz="1300">
                <a:solidFill>
                  <a:srgbClr val="8B949E"/>
                </a:solidFill>
                <a:latin typeface="Calibri"/>
              </a:defRPr>
            </a:pPr>
            <a:r>
              <a:t>Every claim states: what the figure shows IF the thesis is correct</a:t>
            </a:r>
          </a:p>
          <a:p>
            <a:pPr lvl="1">
              <a:spcAft>
                <a:spcPts val="400"/>
              </a:spcAft>
              <a:defRPr sz="1300">
                <a:solidFill>
                  <a:srgbClr val="8B949E"/>
                </a:solidFill>
                <a:latin typeface="Calibri"/>
              </a:defRPr>
            </a:pPr>
            <a:r>
              <a:t>Every claim states: what the figure would show IF the alternative is true</a:t>
            </a:r>
          </a:p>
          <a:p>
            <a:pPr lvl="1">
              <a:spcAft>
                <a:spcPts val="400"/>
              </a:spcAft>
              <a:defRPr sz="1300">
                <a:solidFill>
                  <a:srgbClr val="8B949E"/>
                </a:solidFill>
                <a:latin typeface="Calibri"/>
              </a:defRPr>
            </a:pPr>
            <a:r>
              <a:t>Statistical test specified for each comparison</a:t>
            </a:r>
          </a:p>
          <a:p>
            <a:pPr>
              <a:spcAft>
                <a:spcPts val="800"/>
              </a:spcAft>
              <a:defRPr sz="1500">
                <a:solidFill>
                  <a:srgbClr val="FFFFFF"/>
                </a:solidFill>
                <a:latin typeface="Calibri"/>
              </a:defRPr>
            </a:pPr>
            <a:r>
              <a:t>Examples of falsifiability:</a:t>
            </a:r>
          </a:p>
          <a:p>
            <a:pPr lvl="1">
              <a:spcAft>
                <a:spcPts val="400"/>
              </a:spcAft>
              <a:defRPr sz="1300">
                <a:solidFill>
                  <a:srgbClr val="8B949E"/>
                </a:solidFill>
                <a:latin typeface="Calibri"/>
              </a:defRPr>
            </a:pPr>
            <a:r>
              <a:t>If the E. coli GRN had a star topology — thesis is wrong</a:t>
            </a:r>
          </a:p>
          <a:p>
            <a:pPr lvl="1">
              <a:spcAft>
                <a:spcPts val="400"/>
              </a:spcAft>
              <a:defRPr sz="1300">
                <a:solidFill>
                  <a:srgbClr val="8B949E"/>
                </a:solidFill>
                <a:latin typeface="Calibri"/>
              </a:defRPr>
            </a:pPr>
            <a:r>
              <a:t>If removing one cell type collapsed the communication network — thesis is wrong</a:t>
            </a:r>
          </a:p>
          <a:p>
            <a:pPr lvl="1">
              <a:spcAft>
                <a:spcPts val="400"/>
              </a:spcAft>
              <a:defRPr sz="1300">
                <a:solidFill>
                  <a:srgbClr val="8B949E"/>
                </a:solidFill>
                <a:latin typeface="Calibri"/>
              </a:defRPr>
            </a:pPr>
            <a:r>
              <a:t>If centralized allocation recovered faster from perturbation — thesis is wrong</a:t>
            </a:r>
          </a:p>
          <a:p>
            <a:pPr lvl="1">
              <a:spcAft>
                <a:spcPts val="400"/>
              </a:spcAft>
              <a:defRPr sz="1300">
                <a:solidFill>
                  <a:srgbClr val="8B949E"/>
                </a:solidFill>
                <a:latin typeface="Calibri"/>
              </a:defRPr>
            </a:pPr>
            <a:r>
              <a:t>If codon distance didn't correlate with trade cost — thesis is wrong</a:t>
            </a:r>
          </a:p>
          <a:p>
            <a:pPr lvl="1">
              <a:spcAft>
                <a:spcPts val="400"/>
              </a:spcAft>
              <a:defRPr sz="1300">
                <a:solidFill>
                  <a:srgbClr val="8B949E"/>
                </a:solidFill>
                <a:latin typeface="Calibri"/>
              </a:defRPr>
            </a:pPr>
            <a:r>
              <a:t>If cancer mutations were distributed randomly, not in price system genes — thesis is wrong</a:t>
            </a:r>
          </a:p>
          <a:p>
            <a:pPr>
              <a:spcAft>
                <a:spcPts val="800"/>
              </a:spcAft>
              <a:defRPr sz="1500">
                <a:solidFill>
                  <a:srgbClr val="FFFFFF"/>
                </a:solidFill>
                <a:latin typeface="Calibri"/>
              </a:defRPr>
            </a:pPr>
            <a:r>
              <a:t>The meta-claim:</a:t>
            </a:r>
          </a:p>
          <a:p>
            <a:pPr lvl="1">
              <a:spcAft>
                <a:spcPts val="400"/>
              </a:spcAft>
              <a:defRPr sz="1300">
                <a:solidFill>
                  <a:srgbClr val="8B949E"/>
                </a:solidFill>
                <a:latin typeface="Calibri"/>
              </a:defRPr>
            </a:pPr>
            <a:r>
              <a:t>The data either shows it or it doesn't</a:t>
            </a:r>
          </a:p>
          <a:p>
            <a:pPr lvl="1">
              <a:spcAft>
                <a:spcPts val="400"/>
              </a:spcAft>
              <a:defRPr sz="1300">
                <a:solidFill>
                  <a:srgbClr val="8B949E"/>
                </a:solidFill>
                <a:latin typeface="Calibri"/>
              </a:defRPr>
            </a:pPr>
            <a:r>
              <a:t>That's what makes this science, not philosophy</a:t>
            </a:r>
          </a:p>
        </p:txBody>
      </p:sp>
      <p:sp>
        <p:nvSpPr>
          <p:cNvPr id="5" name="TextBox 4"/>
          <p:cNvSpPr txBox="1"/>
          <p:nvPr/>
        </p:nvSpPr>
        <p:spPr>
          <a:xfrm>
            <a:off x="731520" y="5943600"/>
            <a:ext cx="10515600" cy="457200"/>
          </a:xfrm>
          <a:prstGeom prst="rect">
            <a:avLst/>
          </a:prstGeom>
          <a:noFill/>
        </p:spPr>
        <p:txBody>
          <a:bodyPr wrap="square">
            <a:spAutoFit/>
          </a:bodyPr>
          <a:lstStyle/>
          <a:p>
            <a:pPr algn="l">
              <a:defRPr sz="1300" b="0">
                <a:solidFill>
                  <a:srgbClr val="52B788"/>
                </a:solidFill>
                <a:latin typeface="Calibri"/>
              </a:defRPr>
            </a:pPr>
            <a:r>
              <a:t>13 figure types  |  Each with explicit alternative hypothesis  |  All testable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Key Figures: The Core Evidence</a:t>
            </a:r>
          </a:p>
        </p:txBody>
      </p:sp>
      <p:pic>
        <p:nvPicPr>
          <p:cNvPr id="4" name="Picture 3" descr="layer1_topology_annotated.png"/>
          <p:cNvPicPr>
            <a:picLocks noChangeAspect="1"/>
          </p:cNvPicPr>
          <p:nvPr/>
        </p:nvPicPr>
        <p:blipFill>
          <a:blip r:embed="rId2"/>
          <a:stretch>
            <a:fillRect/>
          </a:stretch>
        </p:blipFill>
        <p:spPr>
          <a:xfrm>
            <a:off x="274320" y="914400"/>
            <a:ext cx="5669280" cy="2560320"/>
          </a:xfrm>
          <a:prstGeom prst="rect">
            <a:avLst/>
          </a:prstGeom>
        </p:spPr>
      </p:pic>
      <p:pic>
        <p:nvPicPr>
          <p:cNvPr id="5" name="Picture 4" descr="layer1b_single_cell_economy_annotated.png"/>
          <p:cNvPicPr>
            <a:picLocks noChangeAspect="1"/>
          </p:cNvPicPr>
          <p:nvPr/>
        </p:nvPicPr>
        <p:blipFill>
          <a:blip r:embed="rId3"/>
          <a:stretch>
            <a:fillRect/>
          </a:stretch>
        </p:blipFill>
        <p:spPr>
          <a:xfrm>
            <a:off x="6217920" y="914400"/>
            <a:ext cx="5669280" cy="2560320"/>
          </a:xfrm>
          <a:prstGeom prst="rect">
            <a:avLst/>
          </a:prstGeom>
        </p:spPr>
      </p:pic>
      <p:pic>
        <p:nvPicPr>
          <p:cNvPr id="6" name="Picture 5" descr="layer2_economy_annotated.png"/>
          <p:cNvPicPr>
            <a:picLocks noChangeAspect="1"/>
          </p:cNvPicPr>
          <p:nvPr/>
        </p:nvPicPr>
        <p:blipFill>
          <a:blip r:embed="rId4"/>
          <a:stretch>
            <a:fillRect/>
          </a:stretch>
        </p:blipFill>
        <p:spPr>
          <a:xfrm>
            <a:off x="274320" y="3657600"/>
            <a:ext cx="5669280" cy="2560320"/>
          </a:xfrm>
          <a:prstGeom prst="rect">
            <a:avLst/>
          </a:prstGeom>
        </p:spPr>
      </p:pic>
      <p:pic>
        <p:nvPicPr>
          <p:cNvPr id="7" name="Picture 6" descr="layer3_trade_network_annotated.png"/>
          <p:cNvPicPr>
            <a:picLocks noChangeAspect="1"/>
          </p:cNvPicPr>
          <p:nvPr/>
        </p:nvPicPr>
        <p:blipFill>
          <a:blip r:embed="rId5"/>
          <a:stretch>
            <a:fillRect/>
          </a:stretch>
        </p:blipFill>
        <p:spPr>
          <a:xfrm>
            <a:off x="6217920" y="3657600"/>
            <a:ext cx="5669280" cy="2560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48640"/>
          </a:xfrm>
          <a:prstGeom prst="rect">
            <a:avLst/>
          </a:prstGeom>
          <a:noFill/>
        </p:spPr>
        <p:txBody>
          <a:bodyPr wrap="square">
            <a:spAutoFit/>
          </a:bodyPr>
          <a:lstStyle/>
          <a:p>
            <a:pPr algn="l">
              <a:defRPr sz="3200" b="1">
                <a:solidFill>
                  <a:srgbClr val="E9C46A"/>
                </a:solidFill>
                <a:latin typeface="Calibri"/>
              </a:defRPr>
            </a:pPr>
            <a:r>
              <a:t>Next Steps</a:t>
            </a:r>
          </a:p>
        </p:txBody>
      </p:sp>
      <p:sp>
        <p:nvSpPr>
          <p:cNvPr id="4" name="TextBox 3"/>
          <p:cNvSpPr txBox="1"/>
          <p:nvPr/>
        </p:nvSpPr>
        <p:spPr>
          <a:xfrm>
            <a:off x="731520" y="1188720"/>
            <a:ext cx="5029200" cy="5029200"/>
          </a:xfrm>
          <a:prstGeom prst="rect">
            <a:avLst/>
          </a:prstGeom>
          <a:noFill/>
        </p:spPr>
        <p:txBody>
          <a:bodyPr wrap="square">
            <a:spAutoFit/>
          </a:bodyPr>
          <a:lstStyle/>
          <a:p>
            <a:pPr>
              <a:spcAft>
                <a:spcPts val="800"/>
              </a:spcAft>
              <a:defRPr sz="1500">
                <a:solidFill>
                  <a:srgbClr val="FFFFFF"/>
                </a:solidFill>
                <a:latin typeface="Calibri"/>
              </a:defRPr>
            </a:pPr>
            <a:r>
              <a:t>Poster layout — Week 7 priority</a:t>
            </a:r>
          </a:p>
          <a:p>
            <a:pPr lvl="1">
              <a:spcAft>
                <a:spcPts val="400"/>
              </a:spcAft>
              <a:defRPr sz="1300">
                <a:solidFill>
                  <a:srgbClr val="8B949E"/>
                </a:solidFill>
                <a:latin typeface="Calibri"/>
              </a:defRPr>
            </a:pPr>
            <a:r>
              <a:t>7-layer visual hierarchy with price system figure as centerpiece</a:t>
            </a:r>
          </a:p>
          <a:p>
            <a:pPr lvl="1">
              <a:spcAft>
                <a:spcPts val="400"/>
              </a:spcAft>
              <a:defRPr sz="1300">
                <a:solidFill>
                  <a:srgbClr val="8B949E"/>
                </a:solidFill>
                <a:latin typeface="Calibri"/>
              </a:defRPr>
            </a:pPr>
            <a:r>
              <a:t>One-line finding per layer + synthesis conclusion</a:t>
            </a:r>
          </a:p>
          <a:p>
            <a:pPr>
              <a:spcAft>
                <a:spcPts val="800"/>
              </a:spcAft>
              <a:defRPr sz="1500">
                <a:solidFill>
                  <a:srgbClr val="FFFFFF"/>
                </a:solidFill>
                <a:latin typeface="Calibri"/>
              </a:defRPr>
            </a:pPr>
            <a:r>
              <a:t>Paper finalization</a:t>
            </a:r>
          </a:p>
          <a:p>
            <a:pPr lvl="1">
              <a:spcAft>
                <a:spcPts val="400"/>
              </a:spcAft>
              <a:defRPr sz="1300">
                <a:solidFill>
                  <a:srgbClr val="8B949E"/>
                </a:solidFill>
                <a:latin typeface="Calibri"/>
              </a:defRPr>
            </a:pPr>
            <a:r>
              <a:t>Integrate price system section into distributed knowledge paper</a:t>
            </a:r>
          </a:p>
          <a:p>
            <a:pPr lvl="1">
              <a:spcAft>
                <a:spcPts val="400"/>
              </a:spcAft>
              <a:defRPr sz="1300">
                <a:solidFill>
                  <a:srgbClr val="8B949E"/>
                </a:solidFill>
                <a:latin typeface="Calibri"/>
              </a:defRPr>
            </a:pPr>
            <a:r>
              <a:t>Final statistical tests and figure polishing</a:t>
            </a:r>
          </a:p>
          <a:p>
            <a:pPr>
              <a:spcAft>
                <a:spcPts val="800"/>
              </a:spcAft>
              <a:defRPr sz="1500">
                <a:solidFill>
                  <a:srgbClr val="FFFFFF"/>
                </a:solidFill>
                <a:latin typeface="Calibri"/>
              </a:defRPr>
            </a:pPr>
            <a:r>
              <a:t>Sensitivity analysis on simulation</a:t>
            </a:r>
          </a:p>
          <a:p>
            <a:pPr lvl="1">
              <a:spcAft>
                <a:spcPts val="400"/>
              </a:spcAft>
              <a:defRPr sz="1300">
                <a:solidFill>
                  <a:srgbClr val="8B949E"/>
                </a:solidFill>
                <a:latin typeface="Calibri"/>
              </a:defRPr>
            </a:pPr>
            <a:r>
              <a:t>Vary agent count, feedback strength, perturbation severity</a:t>
            </a:r>
          </a:p>
          <a:p>
            <a:pPr lvl="1">
              <a:spcAft>
                <a:spcPts val="400"/>
              </a:spcAft>
              <a:defRPr sz="1300">
                <a:solidFill>
                  <a:srgbClr val="8B949E"/>
                </a:solidFill>
                <a:latin typeface="Calibri"/>
              </a:defRPr>
            </a:pPr>
            <a:r>
              <a:t>Show distributed advantage holds across parameter space</a:t>
            </a:r>
          </a:p>
          <a:p>
            <a:pPr>
              <a:spcAft>
                <a:spcPts val="800"/>
              </a:spcAft>
              <a:defRPr sz="1500">
                <a:solidFill>
                  <a:srgbClr val="FFFFFF"/>
                </a:solidFill>
                <a:latin typeface="Calibri"/>
              </a:defRPr>
            </a:pPr>
            <a:r>
              <a:t>Final presentation preparation</a:t>
            </a:r>
          </a:p>
          <a:p>
            <a:pPr lvl="1">
              <a:spcAft>
                <a:spcPts val="400"/>
              </a:spcAft>
              <a:defRPr sz="1300">
                <a:solidFill>
                  <a:srgbClr val="8B949E"/>
                </a:solidFill>
                <a:latin typeface="Calibri"/>
              </a:defRPr>
            </a:pPr>
            <a:r>
              <a:t>Select 10-12 strongest figures from the 40+ available</a:t>
            </a:r>
          </a:p>
          <a:p>
            <a:pPr lvl="1">
              <a:spcAft>
                <a:spcPts val="400"/>
              </a:spcAft>
              <a:defRPr sz="1300">
                <a:solidFill>
                  <a:srgbClr val="8B949E"/>
                </a:solidFill>
                <a:latin typeface="Calibri"/>
              </a:defRPr>
            </a:pPr>
            <a:r>
              <a:t>Draft narrative arc for final presentation</a:t>
            </a:r>
          </a:p>
        </p:txBody>
      </p:sp>
      <p:sp>
        <p:nvSpPr>
          <p:cNvPr id="5" name="Rounded Rectangle 4"/>
          <p:cNvSpPr/>
          <p:nvPr/>
        </p:nvSpPr>
        <p:spPr>
          <a:xfrm>
            <a:off x="6858000" y="1371600"/>
            <a:ext cx="4572000" cy="4114800"/>
          </a:xfrm>
          <a:prstGeom prst="roundRect">
            <a:avLst/>
          </a:prstGeom>
          <a:solidFill>
            <a:srgbClr val="1B4332"/>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9C46A"/>
                </a:solidFill>
                <a:latin typeface="Calibri"/>
              </a:defRPr>
            </a:pPr>
            <a:r>
              <a:t>Week 6 Summary</a:t>
            </a:r>
          </a:p>
          <a:p>
            <a:br/>
            <a:pPr algn="ctr">
              <a:defRPr sz="1400">
                <a:solidFill>
                  <a:srgbClr val="95D5B2"/>
                </a:solidFill>
                <a:latin typeface="Calibri"/>
              </a:defRPr>
            </a:pPr>
            <a:r>
              <a:t>The cell has a price system.</a:t>
            </a:r>
            <a:br/>
            <a:br/>
            <a:r>
              <a:t>ATP/ADP is the cost of capital.</a:t>
            </a:r>
            <a:br/>
            <a:r>
              <a:t>Cytokines are market prices.</a:t>
            </a:r>
            <a:br/>
            <a:r>
              <a:t>mTOR is the entrepreneur.</a:t>
            </a:r>
            <a:br/>
            <a:br/>
            <a:r>
              <a:t>Cancer is what happens when</a:t>
            </a:r>
            <a:br/>
            <a:r>
              <a:t>the price system breaks.</a:t>
            </a:r>
            <a:br/>
            <a:br/>
            <a:r>
              <a:t>The same metabolite has different</a:t>
            </a:r>
            <a:br/>
            <a:r>
              <a:t>value in different contexts.</a:t>
            </a:r>
            <a:br/>
            <a:r>
              <a:t>Menger was right.</a:t>
            </a:r>
            <a:br/>
            <a:r>
              <a:t>The cell already knew.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