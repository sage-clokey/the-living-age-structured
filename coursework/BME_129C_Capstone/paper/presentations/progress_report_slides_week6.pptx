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Week 6 progress report.</a:t>
            </a:r>
          </a:p>
          <a:p/>
          <a:p>
            <a:r>
              <a:t>Oral exam completed last week. This week's central accomplishment: the Price System of the Cell figure, a 4-panel synthesis that shows living systems have a real price system — not as metaphor but as measurable molecular mechanism. Also built the comprehensive figure guide.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A — Price Tiers:</a:t>
            </a:r>
          </a:p>
          <a:p/>
          <a:p>
            <a:r>
              <a:t>The cell reads prices at three levels. Intracellular metabolite ratios are the cost of capital — they emerge from the cell's own activity. Intercellular signals are market prices — tissue-level information. mTOR integrates all of these and makes a grow-or-conserve decision. It is the entrepreneur reading the market.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B — Shadow Prices:</a:t>
            </a:r>
          </a:p>
          <a:p/>
          <a:p>
            <a:r>
              <a:t>FBA dual variables from the full E. coli genome-scale model under four conditions. The same metabolite has completely different value depending on context. This IS Menger's subjective value theory, measured in a genome-scale model. The molecule doesn't change — the context does.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C — Price Discovery:</a:t>
            </a:r>
          </a:p>
          <a:p/>
          <a:p>
            <a:r>
              <a:t>Metabolite pools oscillate then converge. Early volatility is the market discovering prices. Late stability is equilibrium found through local feedback alone. No planner needed. This is the invisible hand at the molecular level.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PANEL D — Cancer Mutations:</a:t>
            </a:r>
          </a:p>
          <a:p/>
          <a:p>
            <a:r>
              <a:t>The most mutated genes in cancer all map to specific components of the price system. Every dot is one cancer type. The variation across types proves it's context-dependent — TP53 is 96% in ovarian but 1% in thyroid. Different tissues break different price components. Cancer isn't a gene disease — it's a price system disease.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Keep it brief — 10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058400" cy="1097280"/>
          </a:xfrm>
          <a:prstGeom prst="rect">
            <a:avLst/>
          </a:prstGeom>
          <a:noFill/>
        </p:spPr>
        <p:txBody>
          <a:bodyPr wrap="square">
            <a:spAutoFit/>
          </a:bodyPr>
          <a:lstStyle/>
          <a:p>
            <a:pPr algn="l">
              <a:defRPr sz="4400" b="1">
                <a:solidFill>
                  <a:srgbClr val="52B788"/>
                </a:solidFill>
                <a:latin typeface="Calibri"/>
              </a:defRPr>
            </a:pPr>
            <a:r>
              <a:t>The Price System of the Cell</a:t>
            </a:r>
          </a:p>
        </p:txBody>
      </p:sp>
      <p:sp>
        <p:nvSpPr>
          <p:cNvPr id="4" name="TextBox 3"/>
          <p:cNvSpPr txBox="1"/>
          <p:nvPr/>
        </p:nvSpPr>
        <p:spPr>
          <a:xfrm>
            <a:off x="914400" y="2377440"/>
            <a:ext cx="10058400" cy="731520"/>
          </a:xfrm>
          <a:prstGeom prst="rect">
            <a:avLst/>
          </a:prstGeom>
          <a:noFill/>
        </p:spPr>
        <p:txBody>
          <a:bodyPr wrap="square">
            <a:spAutoFit/>
          </a:bodyPr>
          <a:lstStyle/>
          <a:p>
            <a:pPr algn="l">
              <a:defRPr sz="2400" b="0">
                <a:solidFill>
                  <a:srgbClr val="E9C46A"/>
                </a:solidFill>
                <a:latin typeface="Calibri"/>
              </a:defRPr>
            </a:pPr>
            <a:r>
              <a:t>Life as a Decentralized Economy</a:t>
            </a:r>
          </a:p>
        </p:txBody>
      </p:sp>
      <p:sp>
        <p:nvSpPr>
          <p:cNvPr id="5" name="TextBox 4"/>
          <p:cNvSpPr txBox="1"/>
          <p:nvPr/>
        </p:nvSpPr>
        <p:spPr>
          <a:xfrm>
            <a:off x="914400" y="3474720"/>
            <a:ext cx="10058400" cy="457200"/>
          </a:xfrm>
          <a:prstGeom prst="rect">
            <a:avLst/>
          </a:prstGeom>
          <a:noFill/>
        </p:spPr>
        <p:txBody>
          <a:bodyPr wrap="square">
            <a:spAutoFit/>
          </a:bodyPr>
          <a:lstStyle/>
          <a:p>
            <a:pPr algn="l">
              <a:defRPr sz="1600" b="0">
                <a:solidFill>
                  <a:srgbClr val="8B949E"/>
                </a:solidFill>
                <a:latin typeface="Calibri"/>
              </a:defRPr>
            </a:pPr>
            <a:r>
              <a:t>BME 129C Capstone  |  Week 6 Progress Report</a:t>
            </a:r>
          </a:p>
        </p:txBody>
      </p:sp>
      <p:sp>
        <p:nvSpPr>
          <p:cNvPr id="6" name="TextBox 5"/>
          <p:cNvSpPr txBox="1"/>
          <p:nvPr/>
        </p:nvSpPr>
        <p:spPr>
          <a:xfrm>
            <a:off x="914400" y="4023360"/>
            <a:ext cx="10058400" cy="457200"/>
          </a:xfrm>
          <a:prstGeom prst="rect">
            <a:avLst/>
          </a:prstGeom>
          <a:noFill/>
        </p:spPr>
        <p:txBody>
          <a:bodyPr wrap="square">
            <a:spAutoFit/>
          </a:bodyPr>
          <a:lstStyle/>
          <a:p>
            <a:pPr algn="l">
              <a:defRPr sz="1800" b="0">
                <a:solidFill>
                  <a:srgbClr val="95D5B2"/>
                </a:solidFill>
                <a:latin typeface="Calibri"/>
              </a:defRPr>
            </a:pPr>
            <a:r>
              <a:t>Sage Clokey   |   Spring 2026   |   UC Santa Cruz</a:t>
            </a:r>
          </a:p>
        </p:txBody>
      </p:sp>
      <p:sp>
        <p:nvSpPr>
          <p:cNvPr id="7" name="TextBox 6"/>
          <p:cNvSpPr txBox="1"/>
          <p:nvPr/>
        </p:nvSpPr>
        <p:spPr>
          <a:xfrm>
            <a:off x="914400" y="5029200"/>
            <a:ext cx="10058400" cy="731520"/>
          </a:xfrm>
          <a:prstGeom prst="rect">
            <a:avLst/>
          </a:prstGeom>
          <a:noFill/>
        </p:spPr>
        <p:txBody>
          <a:bodyPr wrap="square">
            <a:spAutoFit/>
          </a:bodyPr>
          <a:lstStyle/>
          <a:p>
            <a:pPr algn="ctr">
              <a:defRPr sz="1400" b="0">
                <a:solidFill>
                  <a:srgbClr val="8B949E"/>
                </a:solidFill>
                <a:latin typeface="Calibri"/>
              </a:defRPr>
            </a:pPr>
            <a:r>
              <a:t>7 layers of evidence  |  40+ figures  |  Price system synthesis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Panel A: The Cell Has a Real Price System</a:t>
            </a:r>
          </a:p>
        </p:txBody>
      </p:sp>
      <p:pic>
        <p:nvPicPr>
          <p:cNvPr id="4" name="Picture 3" descr="panel_a_price_tiers.png"/>
          <p:cNvPicPr>
            <a:picLocks noChangeAspect="1"/>
          </p:cNvPicPr>
          <p:nvPr/>
        </p:nvPicPr>
        <p:blipFill>
          <a:blip r:embed="rId2"/>
          <a:stretch>
            <a:fillRect/>
          </a:stretch>
        </p:blipFill>
        <p:spPr>
          <a:xfrm>
            <a:off x="274320" y="914400"/>
            <a:ext cx="5943600" cy="5303520"/>
          </a:xfrm>
          <a:prstGeom prst="rect">
            <a:avLst/>
          </a:prstGeom>
        </p:spPr>
      </p:pic>
      <p:sp>
        <p:nvSpPr>
          <p:cNvPr id="5" name="TextBox 4"/>
          <p:cNvSpPr txBox="1"/>
          <p:nvPr/>
        </p:nvSpPr>
        <p:spPr>
          <a:xfrm>
            <a:off x="6583680" y="914400"/>
            <a:ext cx="5303520" cy="5303520"/>
          </a:xfrm>
          <a:prstGeom prst="rect">
            <a:avLst/>
          </a:prstGeom>
          <a:noFill/>
        </p:spPr>
        <p:txBody>
          <a:bodyPr wrap="square">
            <a:spAutoFit/>
          </a:bodyPr>
          <a:lstStyle/>
          <a:p>
            <a:pPr>
              <a:spcAft>
                <a:spcPts val="800"/>
              </a:spcAft>
              <a:defRPr sz="1400">
                <a:solidFill>
                  <a:srgbClr val="F5F5F5"/>
                </a:solidFill>
                <a:latin typeface="Calibri"/>
              </a:defRPr>
            </a:pPr>
            <a:r>
              <a:t>Three tiers of molecular prices:</a:t>
            </a:r>
          </a:p>
          <a:p>
            <a:pPr lvl="1">
              <a:spcAft>
                <a:spcPts val="400"/>
              </a:spcAft>
              <a:defRPr sz="1200">
                <a:solidFill>
                  <a:srgbClr val="8B949E"/>
                </a:solidFill>
                <a:latin typeface="Calibri"/>
              </a:defRPr>
            </a:pPr>
            <a:r>
              <a:t>Intracellular ratios = cost of capital</a:t>
            </a:r>
          </a:p>
          <a:p>
            <a:pPr lvl="1">
              <a:spcAft>
                <a:spcPts val="400"/>
              </a:spcAft>
              <a:defRPr sz="1200">
                <a:solidFill>
                  <a:srgbClr val="8B949E"/>
                </a:solidFill>
                <a:latin typeface="Calibri"/>
              </a:defRPr>
            </a:pPr>
            <a:r>
              <a:t>  ATP/ADP, NAD+/NADH, AMP/ATP</a:t>
            </a:r>
          </a:p>
          <a:p>
            <a:pPr lvl="1">
              <a:spcAft>
                <a:spcPts val="400"/>
              </a:spcAft>
              <a:defRPr sz="1200">
                <a:solidFill>
                  <a:srgbClr val="8B949E"/>
                </a:solidFill>
                <a:latin typeface="Calibri"/>
              </a:defRPr>
            </a:pPr>
            <a:r>
              <a:t>Intercellular signals = market prices</a:t>
            </a:r>
          </a:p>
          <a:p>
            <a:pPr lvl="1">
              <a:spcAft>
                <a:spcPts val="400"/>
              </a:spcAft>
              <a:defRPr sz="1200">
                <a:solidFill>
                  <a:srgbClr val="8B949E"/>
                </a:solidFill>
                <a:latin typeface="Calibri"/>
              </a:defRPr>
            </a:pPr>
            <a:r>
              <a:t>  Cytokines, morphogens, growth factors, O2 tension</a:t>
            </a:r>
          </a:p>
          <a:p>
            <a:pPr>
              <a:spcAft>
                <a:spcPts val="800"/>
              </a:spcAft>
              <a:defRPr sz="1400">
                <a:solidFill>
                  <a:srgbClr val="F5F5F5"/>
                </a:solidFill>
                <a:latin typeface="Calibri"/>
              </a:defRPr>
            </a:pPr>
            <a:r>
              <a:t>mTOR = the entrepreneur</a:t>
            </a:r>
          </a:p>
          <a:p>
            <a:pPr lvl="1">
              <a:spcAft>
                <a:spcPts val="400"/>
              </a:spcAft>
              <a:defRPr sz="1200">
                <a:solidFill>
                  <a:srgbClr val="8B949E"/>
                </a:solidFill>
                <a:latin typeface="Calibri"/>
              </a:defRPr>
            </a:pPr>
            <a:r>
              <a:t>Reads all price inputs simultaneously</a:t>
            </a:r>
          </a:p>
          <a:p>
            <a:pPr lvl="1">
              <a:spcAft>
                <a:spcPts val="400"/>
              </a:spcAft>
              <a:defRPr sz="1200">
                <a:solidFill>
                  <a:srgbClr val="8B949E"/>
                </a:solidFill>
                <a:latin typeface="Calibri"/>
              </a:defRPr>
            </a:pPr>
            <a:r>
              <a:t>Makes a grow-or-conserve decision</a:t>
            </a:r>
          </a:p>
          <a:p>
            <a:pPr lvl="1">
              <a:spcAft>
                <a:spcPts val="400"/>
              </a:spcAft>
              <a:defRPr sz="1200">
                <a:solidFill>
                  <a:srgbClr val="8B949E"/>
                </a:solidFill>
                <a:latin typeface="Calibri"/>
              </a:defRPr>
            </a:pPr>
            <a:r>
              <a:t>No central planner tells it what to do</a:t>
            </a:r>
          </a:p>
          <a:p>
            <a:pPr>
              <a:spcAft>
                <a:spcPts val="800"/>
              </a:spcAft>
              <a:defRPr sz="1400">
                <a:solidFill>
                  <a:srgbClr val="F5F5F5"/>
                </a:solidFill>
                <a:latin typeface="Calibri"/>
              </a:defRPr>
            </a:pPr>
            <a:r>
              <a:t>Not metaphor — measurable molecular signals</a:t>
            </a:r>
          </a:p>
          <a:p>
            <a:pPr lvl="1">
              <a:spcAft>
                <a:spcPts val="400"/>
              </a:spcAft>
              <a:defRPr sz="1200">
                <a:solidFill>
                  <a:srgbClr val="8B949E"/>
                </a:solidFill>
                <a:latin typeface="Calibri"/>
              </a:defRPr>
            </a:pPr>
            <a:r>
              <a:t>Every ratio is quantifiable</a:t>
            </a:r>
          </a:p>
          <a:p>
            <a:pPr lvl="1">
              <a:spcAft>
                <a:spcPts val="400"/>
              </a:spcAft>
              <a:defRPr sz="1200">
                <a:solidFill>
                  <a:srgbClr val="8B949E"/>
                </a:solidFill>
                <a:latin typeface="Calibri"/>
              </a:defRPr>
            </a:pPr>
            <a:r>
              <a:t>Every signal has a known receptor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Panel B: Menger's Subjective Value — Measured</a:t>
            </a:r>
          </a:p>
        </p:txBody>
      </p:sp>
      <p:pic>
        <p:nvPicPr>
          <p:cNvPr id="4" name="Picture 3" descr="panel_b_shadow_prices.png"/>
          <p:cNvPicPr>
            <a:picLocks noChangeAspect="1"/>
          </p:cNvPicPr>
          <p:nvPr/>
        </p:nvPicPr>
        <p:blipFill>
          <a:blip r:embed="rId2"/>
          <a:stretch>
            <a:fillRect/>
          </a:stretch>
        </p:blipFill>
        <p:spPr>
          <a:xfrm>
            <a:off x="274320" y="914400"/>
            <a:ext cx="5943600" cy="5303520"/>
          </a:xfrm>
          <a:prstGeom prst="rect">
            <a:avLst/>
          </a:prstGeom>
        </p:spPr>
      </p:pic>
      <p:sp>
        <p:nvSpPr>
          <p:cNvPr id="5" name="TextBox 4"/>
          <p:cNvSpPr txBox="1"/>
          <p:nvPr/>
        </p:nvSpPr>
        <p:spPr>
          <a:xfrm>
            <a:off x="6583680" y="914400"/>
            <a:ext cx="5303520" cy="5303520"/>
          </a:xfrm>
          <a:prstGeom prst="rect">
            <a:avLst/>
          </a:prstGeom>
          <a:noFill/>
        </p:spPr>
        <p:txBody>
          <a:bodyPr wrap="square">
            <a:spAutoFit/>
          </a:bodyPr>
          <a:lstStyle/>
          <a:p>
            <a:pPr>
              <a:spcAft>
                <a:spcPts val="800"/>
              </a:spcAft>
              <a:defRPr sz="1400">
                <a:solidFill>
                  <a:srgbClr val="F5F5F5"/>
                </a:solidFill>
                <a:latin typeface="Calibri"/>
              </a:defRPr>
            </a:pPr>
            <a:r>
              <a:t>Same metabolite, different value in different conditions</a:t>
            </a:r>
          </a:p>
          <a:p>
            <a:pPr lvl="1">
              <a:spcAft>
                <a:spcPts val="400"/>
              </a:spcAft>
              <a:defRPr sz="1200">
                <a:solidFill>
                  <a:srgbClr val="8B949E"/>
                </a:solidFill>
                <a:latin typeface="Calibri"/>
              </a:defRPr>
            </a:pPr>
            <a:r>
              <a:t>NADH: low price on glucose, high price on acetate</a:t>
            </a:r>
          </a:p>
          <a:p>
            <a:pPr lvl="1">
              <a:spcAft>
                <a:spcPts val="400"/>
              </a:spcAft>
              <a:defRPr sz="1200">
                <a:solidFill>
                  <a:srgbClr val="8B949E"/>
                </a:solidFill>
                <a:latin typeface="Calibri"/>
              </a:defRPr>
            </a:pPr>
            <a:r>
              <a:t>Oxygen: near zero aerobically, spikes under anaerobic</a:t>
            </a:r>
          </a:p>
          <a:p>
            <a:pPr lvl="1">
              <a:spcAft>
                <a:spcPts val="400"/>
              </a:spcAft>
              <a:defRPr sz="1200">
                <a:solidFill>
                  <a:srgbClr val="8B949E"/>
                </a:solidFill>
                <a:latin typeface="Calibri"/>
              </a:defRPr>
            </a:pPr>
            <a:r>
              <a:t>Ammonium: irrelevant normally, critical under nitrogen limitation</a:t>
            </a:r>
          </a:p>
          <a:p>
            <a:pPr>
              <a:spcAft>
                <a:spcPts val="800"/>
              </a:spcAft>
              <a:defRPr sz="1400">
                <a:solidFill>
                  <a:srgbClr val="F5F5F5"/>
                </a:solidFill>
                <a:latin typeface="Calibri"/>
              </a:defRPr>
            </a:pPr>
            <a:r>
              <a:t>FBA shadow prices from iML1515 genome-scale model</a:t>
            </a:r>
          </a:p>
          <a:p>
            <a:pPr lvl="1">
              <a:spcAft>
                <a:spcPts val="400"/>
              </a:spcAft>
              <a:defRPr sz="1200">
                <a:solidFill>
                  <a:srgbClr val="8B949E"/>
                </a:solidFill>
                <a:latin typeface="Calibri"/>
              </a:defRPr>
            </a:pPr>
            <a:r>
              <a:t>2,712 reactions, 1,877 metabolites, 1,516 genes</a:t>
            </a:r>
          </a:p>
          <a:p>
            <a:pPr lvl="1">
              <a:spcAft>
                <a:spcPts val="400"/>
              </a:spcAft>
              <a:defRPr sz="1200">
                <a:solidFill>
                  <a:srgbClr val="8B949E"/>
                </a:solidFill>
                <a:latin typeface="Calibri"/>
              </a:defRPr>
            </a:pPr>
            <a:r>
              <a:t>Shadow prices = dual variables from linear program</a:t>
            </a:r>
          </a:p>
          <a:p>
            <a:pPr lvl="1">
              <a:spcAft>
                <a:spcPts val="400"/>
              </a:spcAft>
              <a:defRPr sz="1200">
                <a:solidFill>
                  <a:srgbClr val="8B949E"/>
                </a:solidFill>
                <a:latin typeface="Calibri"/>
              </a:defRPr>
            </a:pPr>
            <a:r>
              <a:t>Even the omniscient planner must compute prices to solve</a:t>
            </a:r>
          </a:p>
          <a:p>
            <a:pPr>
              <a:spcAft>
                <a:spcPts val="800"/>
              </a:spcAft>
              <a:defRPr sz="1400">
                <a:solidFill>
                  <a:srgbClr val="F5F5F5"/>
                </a:solidFill>
                <a:latin typeface="Calibri"/>
              </a:defRPr>
            </a:pPr>
            <a:r>
              <a:t>Menger (1871): value is subjective, not intrinsic</a:t>
            </a:r>
          </a:p>
          <a:p>
            <a:pPr lvl="1">
              <a:spcAft>
                <a:spcPts val="400"/>
              </a:spcAft>
              <a:defRPr sz="1200">
                <a:solidFill>
                  <a:srgbClr val="8B949E"/>
                </a:solidFill>
                <a:latin typeface="Calibri"/>
              </a:defRPr>
            </a:pPr>
            <a:r>
              <a:t>The molecule doesn't change — the context does</a:t>
            </a:r>
          </a:p>
          <a:p>
            <a:pPr lvl="1">
              <a:spcAft>
                <a:spcPts val="400"/>
              </a:spcAft>
              <a:defRPr sz="1200">
                <a:solidFill>
                  <a:srgbClr val="8B949E"/>
                </a:solidFill>
                <a:latin typeface="Calibri"/>
              </a:defRPr>
            </a:pPr>
            <a:r>
              <a:t>The cell has known this for 4 billion years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Panel C: Price Discovery Without a Planner</a:t>
            </a:r>
          </a:p>
        </p:txBody>
      </p:sp>
      <p:pic>
        <p:nvPicPr>
          <p:cNvPr id="4" name="Picture 3" descr="panel_c_price_discovery.png"/>
          <p:cNvPicPr>
            <a:picLocks noChangeAspect="1"/>
          </p:cNvPicPr>
          <p:nvPr/>
        </p:nvPicPr>
        <p:blipFill>
          <a:blip r:embed="rId2"/>
          <a:stretch>
            <a:fillRect/>
          </a:stretch>
        </p:blipFill>
        <p:spPr>
          <a:xfrm>
            <a:off x="274320" y="914400"/>
            <a:ext cx="5943600" cy="5303520"/>
          </a:xfrm>
          <a:prstGeom prst="rect">
            <a:avLst/>
          </a:prstGeom>
        </p:spPr>
      </p:pic>
      <p:sp>
        <p:nvSpPr>
          <p:cNvPr id="5" name="TextBox 4"/>
          <p:cNvSpPr txBox="1"/>
          <p:nvPr/>
        </p:nvSpPr>
        <p:spPr>
          <a:xfrm>
            <a:off x="6583680" y="914400"/>
            <a:ext cx="5303520" cy="5303520"/>
          </a:xfrm>
          <a:prstGeom prst="rect">
            <a:avLst/>
          </a:prstGeom>
          <a:noFill/>
        </p:spPr>
        <p:txBody>
          <a:bodyPr wrap="square">
            <a:spAutoFit/>
          </a:bodyPr>
          <a:lstStyle/>
          <a:p>
            <a:pPr>
              <a:spcAft>
                <a:spcPts val="800"/>
              </a:spcAft>
              <a:defRPr sz="1400">
                <a:solidFill>
                  <a:srgbClr val="F5F5F5"/>
                </a:solidFill>
                <a:latin typeface="Calibri"/>
              </a:defRPr>
            </a:pPr>
            <a:r>
              <a:t>Metabolite pools oscillate then converge</a:t>
            </a:r>
          </a:p>
          <a:p>
            <a:pPr lvl="1">
              <a:spcAft>
                <a:spcPts val="400"/>
              </a:spcAft>
              <a:defRPr sz="1200">
                <a:solidFill>
                  <a:srgbClr val="8B949E"/>
                </a:solidFill>
                <a:latin typeface="Calibri"/>
              </a:defRPr>
            </a:pPr>
            <a:r>
              <a:t>Early oscillation = discovery phase</a:t>
            </a:r>
          </a:p>
          <a:p>
            <a:pPr lvl="1">
              <a:spcAft>
                <a:spcPts val="400"/>
              </a:spcAft>
              <a:defRPr sz="1200">
                <a:solidFill>
                  <a:srgbClr val="8B949E"/>
                </a:solidFill>
                <a:latin typeface="Calibri"/>
              </a:defRPr>
            </a:pPr>
            <a:r>
              <a:t>Late convergence = equilibrium found</a:t>
            </a:r>
          </a:p>
          <a:p>
            <a:pPr lvl="1">
              <a:spcAft>
                <a:spcPts val="400"/>
              </a:spcAft>
              <a:defRPr sz="1200">
                <a:solidFill>
                  <a:srgbClr val="8B949E"/>
                </a:solidFill>
                <a:latin typeface="Calibri"/>
              </a:defRPr>
            </a:pPr>
            <a:r>
              <a:t>No planner told them where to settle</a:t>
            </a:r>
          </a:p>
          <a:p>
            <a:pPr>
              <a:spcAft>
                <a:spcPts val="800"/>
              </a:spcAft>
              <a:defRPr sz="1400">
                <a:solidFill>
                  <a:srgbClr val="F5F5F5"/>
                </a:solidFill>
                <a:latin typeface="Calibri"/>
              </a:defRPr>
            </a:pPr>
            <a:r>
              <a:t>Supply and demand, happening in a cell</a:t>
            </a:r>
          </a:p>
          <a:p>
            <a:pPr lvl="1">
              <a:spcAft>
                <a:spcPts val="400"/>
              </a:spcAft>
              <a:defRPr sz="1200">
                <a:solidFill>
                  <a:srgbClr val="8B949E"/>
                </a:solidFill>
                <a:latin typeface="Calibri"/>
              </a:defRPr>
            </a:pPr>
            <a:r>
              <a:t>Oversupply = producers slow down (price drops)</a:t>
            </a:r>
          </a:p>
          <a:p>
            <a:pPr lvl="1">
              <a:spcAft>
                <a:spcPts val="400"/>
              </a:spcAft>
              <a:defRPr sz="1200">
                <a:solidFill>
                  <a:srgbClr val="8B949E"/>
                </a:solidFill>
                <a:latin typeface="Calibri"/>
              </a:defRPr>
            </a:pPr>
            <a:r>
              <a:t>Scarcity = producers speed up (price rises)</a:t>
            </a:r>
          </a:p>
          <a:p>
            <a:pPr lvl="1">
              <a:spcAft>
                <a:spcPts val="400"/>
              </a:spcAft>
              <a:defRPr sz="1200">
                <a:solidFill>
                  <a:srgbClr val="8B949E"/>
                </a:solidFill>
                <a:latin typeface="Calibri"/>
              </a:defRPr>
            </a:pPr>
            <a:r>
              <a:t>Local feedback alone drives coordination</a:t>
            </a:r>
          </a:p>
          <a:p>
            <a:pPr>
              <a:spcAft>
                <a:spcPts val="800"/>
              </a:spcAft>
              <a:defRPr sz="1400">
                <a:solidFill>
                  <a:srgbClr val="F5F5F5"/>
                </a:solidFill>
                <a:latin typeface="Calibri"/>
              </a:defRPr>
            </a:pPr>
            <a:r>
              <a:t>The invisible hand at the molecular level</a:t>
            </a:r>
          </a:p>
          <a:p>
            <a:pPr lvl="1">
              <a:spcAft>
                <a:spcPts val="400"/>
              </a:spcAft>
              <a:defRPr sz="1200">
                <a:solidFill>
                  <a:srgbClr val="8B949E"/>
                </a:solidFill>
                <a:latin typeface="Calibri"/>
              </a:defRPr>
            </a:pPr>
            <a:r>
              <a:t>Each agent adjusts based on local conditions</a:t>
            </a:r>
          </a:p>
          <a:p>
            <a:pPr lvl="1">
              <a:spcAft>
                <a:spcPts val="400"/>
              </a:spcAft>
              <a:defRPr sz="1200">
                <a:solidFill>
                  <a:srgbClr val="8B949E"/>
                </a:solidFill>
                <a:latin typeface="Calibri"/>
              </a:defRPr>
            </a:pPr>
            <a:r>
              <a:t>Global order emerges from individual decisions</a:t>
            </a:r>
          </a:p>
          <a:p>
            <a:pPr lvl="1">
              <a:spcAft>
                <a:spcPts val="400"/>
              </a:spcAft>
              <a:defRPr sz="1200">
                <a:solidFill>
                  <a:srgbClr val="8B949E"/>
                </a:solidFill>
                <a:latin typeface="Calibri"/>
              </a:defRPr>
            </a:pPr>
            <a:r>
              <a:t>This is Hayek's price discovery, measured in metabolites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
            <a:ext cx="10058400" cy="457200"/>
          </a:xfrm>
          <a:prstGeom prst="rect">
            <a:avLst/>
          </a:prstGeom>
          <a:noFill/>
        </p:spPr>
        <p:txBody>
          <a:bodyPr wrap="square">
            <a:spAutoFit/>
          </a:bodyPr>
          <a:lstStyle/>
          <a:p>
            <a:pPr algn="l">
              <a:defRPr sz="2800" b="1">
                <a:solidFill>
                  <a:srgbClr val="E9C46A"/>
                </a:solidFill>
                <a:latin typeface="Calibri"/>
              </a:defRPr>
            </a:pPr>
            <a:r>
              <a:t>Panel D: Cancer Breaks the Price System</a:t>
            </a:r>
          </a:p>
        </p:txBody>
      </p:sp>
      <p:pic>
        <p:nvPicPr>
          <p:cNvPr id="4" name="Picture 3" descr="panel_d_cancer_price_system.png"/>
          <p:cNvPicPr>
            <a:picLocks noChangeAspect="1"/>
          </p:cNvPicPr>
          <p:nvPr/>
        </p:nvPicPr>
        <p:blipFill>
          <a:blip r:embed="rId2"/>
          <a:stretch>
            <a:fillRect/>
          </a:stretch>
        </p:blipFill>
        <p:spPr>
          <a:xfrm>
            <a:off x="274320" y="914400"/>
            <a:ext cx="5943600" cy="5303520"/>
          </a:xfrm>
          <a:prstGeom prst="rect">
            <a:avLst/>
          </a:prstGeom>
        </p:spPr>
      </p:pic>
      <p:sp>
        <p:nvSpPr>
          <p:cNvPr id="5" name="TextBox 4"/>
          <p:cNvSpPr txBox="1"/>
          <p:nvPr/>
        </p:nvSpPr>
        <p:spPr>
          <a:xfrm>
            <a:off x="6583680" y="914400"/>
            <a:ext cx="5303520" cy="5303520"/>
          </a:xfrm>
          <a:prstGeom prst="rect">
            <a:avLst/>
          </a:prstGeom>
          <a:noFill/>
        </p:spPr>
        <p:txBody>
          <a:bodyPr wrap="square">
            <a:spAutoFit/>
          </a:bodyPr>
          <a:lstStyle/>
          <a:p>
            <a:pPr>
              <a:spcAft>
                <a:spcPts val="800"/>
              </a:spcAft>
              <a:defRPr sz="1400">
                <a:solidFill>
                  <a:srgbClr val="F5F5F5"/>
                </a:solidFill>
                <a:latin typeface="Calibri"/>
              </a:defRPr>
            </a:pPr>
            <a:r>
              <a:t>Most mutated genes map to price system components</a:t>
            </a:r>
          </a:p>
          <a:p>
            <a:pPr lvl="1">
              <a:spcAft>
                <a:spcPts val="400"/>
              </a:spcAft>
              <a:defRPr sz="1200">
                <a:solidFill>
                  <a:srgbClr val="8B949E"/>
                </a:solidFill>
                <a:latin typeface="Calibri"/>
              </a:defRPr>
            </a:pPr>
            <a:r>
              <a:t>TP53 — damage price (apoptosis signal)</a:t>
            </a:r>
          </a:p>
          <a:p>
            <a:pPr lvl="1">
              <a:spcAft>
                <a:spcPts val="400"/>
              </a:spcAft>
              <a:defRPr sz="1200">
                <a:solidFill>
                  <a:srgbClr val="8B949E"/>
                </a:solidFill>
                <a:latin typeface="Calibri"/>
              </a:defRPr>
            </a:pPr>
            <a:r>
              <a:t>PIK3CA, PTEN, mTOR — price integrators</a:t>
            </a:r>
          </a:p>
          <a:p>
            <a:pPr lvl="1">
              <a:spcAft>
                <a:spcPts val="400"/>
              </a:spcAft>
              <a:defRPr sz="1200">
                <a:solidFill>
                  <a:srgbClr val="8B949E"/>
                </a:solidFill>
                <a:latin typeface="Calibri"/>
              </a:defRPr>
            </a:pPr>
            <a:r>
              <a:t>EGFR, ERBB2 — growth factor receptors (price readers)</a:t>
            </a:r>
          </a:p>
          <a:p>
            <a:pPr lvl="1">
              <a:spcAft>
                <a:spcPts val="400"/>
              </a:spcAft>
              <a:defRPr sz="1200">
                <a:solidFill>
                  <a:srgbClr val="8B949E"/>
                </a:solidFill>
                <a:latin typeface="Calibri"/>
              </a:defRPr>
            </a:pPr>
            <a:r>
              <a:t>NF2 — spatial/contact price (Hippo pathway)</a:t>
            </a:r>
          </a:p>
          <a:p>
            <a:pPr>
              <a:spcAft>
                <a:spcPts val="800"/>
              </a:spcAft>
              <a:defRPr sz="1400">
                <a:solidFill>
                  <a:srgbClr val="F5F5F5"/>
                </a:solidFill>
                <a:latin typeface="Calibri"/>
              </a:defRPr>
            </a:pPr>
            <a:r>
              <a:t>The variation IS the signal</a:t>
            </a:r>
          </a:p>
          <a:p>
            <a:pPr lvl="1">
              <a:spcAft>
                <a:spcPts val="400"/>
              </a:spcAft>
              <a:defRPr sz="1200">
                <a:solidFill>
                  <a:srgbClr val="8B949E"/>
                </a:solidFill>
                <a:latin typeface="Calibri"/>
              </a:defRPr>
            </a:pPr>
            <a:r>
              <a:t>TP53: 96% in ovarian, 1% in thyroid</a:t>
            </a:r>
          </a:p>
          <a:p>
            <a:pPr lvl="1">
              <a:spcAft>
                <a:spcPts val="400"/>
              </a:spcAft>
              <a:defRPr sz="1200">
                <a:solidFill>
                  <a:srgbClr val="8B949E"/>
                </a:solidFill>
                <a:latin typeface="Calibri"/>
              </a:defRPr>
            </a:pPr>
            <a:r>
              <a:t>Different tissues rely on different prices</a:t>
            </a:r>
          </a:p>
          <a:p>
            <a:pPr lvl="1">
              <a:spcAft>
                <a:spcPts val="400"/>
              </a:spcAft>
              <a:defRPr sz="1200">
                <a:solidFill>
                  <a:srgbClr val="8B949E"/>
                </a:solidFill>
                <a:latin typeface="Calibri"/>
              </a:defRPr>
            </a:pPr>
            <a:r>
              <a:t>Same gene, completely different importance by context</a:t>
            </a:r>
          </a:p>
          <a:p>
            <a:pPr>
              <a:spcAft>
                <a:spcPts val="800"/>
              </a:spcAft>
              <a:defRPr sz="1400">
                <a:solidFill>
                  <a:srgbClr val="F5F5F5"/>
                </a:solidFill>
                <a:latin typeface="Calibri"/>
              </a:defRPr>
            </a:pPr>
            <a:r>
              <a:t>Cancer is not a gene disease</a:t>
            </a:r>
          </a:p>
          <a:p>
            <a:pPr lvl="1">
              <a:spcAft>
                <a:spcPts val="400"/>
              </a:spcAft>
              <a:defRPr sz="1200">
                <a:solidFill>
                  <a:srgbClr val="8B949E"/>
                </a:solidFill>
                <a:latin typeface="Calibri"/>
              </a:defRPr>
            </a:pPr>
            <a:r>
              <a:t>It's a price system disease</a:t>
            </a:r>
          </a:p>
          <a:p>
            <a:pPr lvl="1">
              <a:spcAft>
                <a:spcPts val="400"/>
              </a:spcAft>
              <a:defRPr sz="1200">
                <a:solidFill>
                  <a:srgbClr val="8B949E"/>
                </a:solidFill>
                <a:latin typeface="Calibri"/>
              </a:defRPr>
            </a:pPr>
            <a:r>
              <a:t>The disease is the broken feedback loop</a:t>
            </a:r>
          </a:p>
          <a:p>
            <a:pPr lvl="1">
              <a:spcAft>
                <a:spcPts val="400"/>
              </a:spcAft>
              <a:defRPr sz="1200">
                <a:solidFill>
                  <a:srgbClr val="8B949E"/>
                </a:solidFill>
                <a:latin typeface="Calibri"/>
              </a:defRPr>
            </a:pPr>
            <a:r>
              <a:t>Variants are not diseases — broken readers are</a:t>
            </a:r>
          </a:p>
        </p:txBody>
      </p:sp>
      <p:sp>
        <p:nvSpPr>
          <p:cNvPr id="6" name="TextBox 5"/>
          <p:cNvSpPr txBox="1"/>
          <p:nvPr/>
        </p:nvSpPr>
        <p:spPr>
          <a:xfrm>
            <a:off x="731520" y="6217920"/>
            <a:ext cx="10515600" cy="457200"/>
          </a:xfrm>
          <a:prstGeom prst="rect">
            <a:avLst/>
          </a:prstGeom>
          <a:noFill/>
        </p:spPr>
        <p:txBody>
          <a:bodyPr wrap="square">
            <a:spAutoFit/>
          </a:bodyPr>
          <a:lstStyle/>
          <a:p>
            <a:pPr algn="l">
              <a:defRPr sz="1500" b="1">
                <a:solidFill>
                  <a:srgbClr val="52B788"/>
                </a:solidFill>
                <a:latin typeface="Calibri"/>
              </a:defRPr>
            </a:pPr>
            <a:r>
              <a:t>The cell has prices. Cancer is what happens when the price system breaks.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52B7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548640"/>
          </a:xfrm>
          <a:prstGeom prst="rect">
            <a:avLst/>
          </a:prstGeom>
          <a:noFill/>
        </p:spPr>
        <p:txBody>
          <a:bodyPr wrap="square">
            <a:spAutoFit/>
          </a:bodyPr>
          <a:lstStyle/>
          <a:p>
            <a:pPr algn="l">
              <a:defRPr sz="3200" b="1">
                <a:solidFill>
                  <a:srgbClr val="E9C46A"/>
                </a:solidFill>
                <a:latin typeface="Calibri"/>
              </a:defRPr>
            </a:pPr>
            <a:r>
              <a:t>Next Steps</a:t>
            </a:r>
          </a:p>
        </p:txBody>
      </p:sp>
      <p:sp>
        <p:nvSpPr>
          <p:cNvPr id="4" name="TextBox 3"/>
          <p:cNvSpPr txBox="1"/>
          <p:nvPr/>
        </p:nvSpPr>
        <p:spPr>
          <a:xfrm>
            <a:off x="731520" y="1371600"/>
            <a:ext cx="4572000" cy="3657600"/>
          </a:xfrm>
          <a:prstGeom prst="rect">
            <a:avLst/>
          </a:prstGeom>
          <a:noFill/>
        </p:spPr>
        <p:txBody>
          <a:bodyPr wrap="square">
            <a:spAutoFit/>
          </a:bodyPr>
          <a:lstStyle/>
          <a:p>
            <a:pPr>
              <a:spcAft>
                <a:spcPts val="800"/>
              </a:spcAft>
              <a:defRPr sz="1800">
                <a:solidFill>
                  <a:srgbClr val="FFFFFF"/>
                </a:solidFill>
                <a:latin typeface="Calibri"/>
              </a:defRPr>
            </a:pPr>
            <a:r>
              <a:t>Poster layout</a:t>
            </a:r>
          </a:p>
          <a:p>
            <a:pPr>
              <a:spcAft>
                <a:spcPts val="800"/>
              </a:spcAft>
              <a:defRPr sz="1800">
                <a:solidFill>
                  <a:srgbClr val="FFFFFF"/>
                </a:solidFill>
                <a:latin typeface="Calibri"/>
              </a:defRPr>
            </a:pPr>
            <a:r>
              <a:t>Paper finalization</a:t>
            </a:r>
          </a:p>
          <a:p>
            <a:pPr>
              <a:spcAft>
                <a:spcPts val="800"/>
              </a:spcAft>
              <a:defRPr sz="1800">
                <a:solidFill>
                  <a:srgbClr val="FFFFFF"/>
                </a:solidFill>
                <a:latin typeface="Calibri"/>
              </a:defRPr>
            </a:pPr>
            <a:r>
              <a:t>Sensitivity analysis on simulation</a:t>
            </a:r>
          </a:p>
          <a:p>
            <a:pPr>
              <a:spcAft>
                <a:spcPts val="800"/>
              </a:spcAft>
              <a:defRPr sz="1800">
                <a:solidFill>
                  <a:srgbClr val="FFFFFF"/>
                </a:solidFill>
                <a:latin typeface="Calibri"/>
              </a:defRPr>
            </a:pPr>
            <a:r>
              <a:t>Final presentation</a:t>
            </a:r>
          </a:p>
        </p:txBody>
      </p:sp>
      <p:sp>
        <p:nvSpPr>
          <p:cNvPr id="5" name="Rounded Rectangle 4"/>
          <p:cNvSpPr/>
          <p:nvPr/>
        </p:nvSpPr>
        <p:spPr>
          <a:xfrm>
            <a:off x="6858000" y="1371600"/>
            <a:ext cx="4572000" cy="4114800"/>
          </a:xfrm>
          <a:prstGeom prst="roundRect">
            <a:avLst/>
          </a:prstGeom>
          <a:solidFill>
            <a:srgbClr val="1B4332"/>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E9C46A"/>
                </a:solidFill>
                <a:latin typeface="Calibri"/>
              </a:defRPr>
            </a:pPr>
            <a:r>
              <a:t>Week 6 Summary</a:t>
            </a:r>
          </a:p>
          <a:p>
            <a:br/>
            <a:pPr algn="ctr">
              <a:defRPr sz="1400">
                <a:solidFill>
                  <a:srgbClr val="95D5B2"/>
                </a:solidFill>
                <a:latin typeface="Calibri"/>
              </a:defRPr>
            </a:pPr>
            <a:r>
              <a:t>The cell has a price system.</a:t>
            </a:r>
            <a:br/>
            <a:br/>
            <a:r>
              <a:t>ATP/ADP is the cost of capital.</a:t>
            </a:r>
            <a:br/>
            <a:r>
              <a:t>Cytokines are market prices.</a:t>
            </a:r>
            <a:br/>
            <a:r>
              <a:t>mTOR is the entrepreneur.</a:t>
            </a:r>
            <a:br/>
            <a:br/>
            <a:r>
              <a:t>Cancer is what happens when</a:t>
            </a:r>
            <a:br/>
            <a:r>
              <a:t>the price system breaks.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